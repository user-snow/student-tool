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39"/>
  </p:notesMasterIdLst>
  <p:handoutMasterIdLst>
    <p:handoutMasterId r:id="rId40"/>
  </p:handoutMasterIdLst>
  <p:sldIdLst>
    <p:sldId id="257" r:id="rId3"/>
    <p:sldId id="300" r:id="rId4"/>
    <p:sldId id="370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1" r:id="rId16"/>
    <p:sldId id="382" r:id="rId17"/>
    <p:sldId id="383" r:id="rId18"/>
    <p:sldId id="384" r:id="rId19"/>
    <p:sldId id="385" r:id="rId20"/>
    <p:sldId id="386" r:id="rId21"/>
    <p:sldId id="387" r:id="rId22"/>
    <p:sldId id="388" r:id="rId23"/>
    <p:sldId id="395" r:id="rId24"/>
    <p:sldId id="396" r:id="rId25"/>
    <p:sldId id="397" r:id="rId26"/>
    <p:sldId id="389" r:id="rId27"/>
    <p:sldId id="390" r:id="rId28"/>
    <p:sldId id="391" r:id="rId29"/>
    <p:sldId id="392" r:id="rId30"/>
    <p:sldId id="393" r:id="rId31"/>
    <p:sldId id="394" r:id="rId32"/>
    <p:sldId id="398" r:id="rId33"/>
    <p:sldId id="399" r:id="rId34"/>
    <p:sldId id="400" r:id="rId35"/>
    <p:sldId id="401" r:id="rId36"/>
    <p:sldId id="402" r:id="rId37"/>
    <p:sldId id="369" r:id="rId38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1513"/>
    <a:srgbClr val="FFCCFF"/>
    <a:srgbClr val="5C5C5C"/>
    <a:srgbClr val="404040"/>
    <a:srgbClr val="199F8E"/>
    <a:srgbClr val="3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4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60" y="57"/>
      </p:cViewPr>
      <p:guideLst>
        <p:guide orient="horz" pos="218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0" y="160256"/>
            <a:ext cx="348792" cy="414779"/>
            <a:chOff x="0" y="160256"/>
            <a:chExt cx="348792" cy="414779"/>
          </a:xfrm>
        </p:grpSpPr>
        <p:sp>
          <p:nvSpPr>
            <p:cNvPr id="4" name="矩形 3"/>
            <p:cNvSpPr/>
            <p:nvPr/>
          </p:nvSpPr>
          <p:spPr>
            <a:xfrm>
              <a:off x="0" y="160256"/>
              <a:ext cx="188536" cy="414779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54524" y="160256"/>
              <a:ext cx="94268" cy="414779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4" b="122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流程图: 手动输入 7"/>
          <p:cNvSpPr/>
          <p:nvPr userDrawn="1"/>
        </p:nvSpPr>
        <p:spPr>
          <a:xfrm rot="5400000" flipV="1">
            <a:off x="5157537" y="-176465"/>
            <a:ext cx="6858002" cy="721092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0 w 10000"/>
              <a:gd name="connsiteY0-2" fmla="*/ 2995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0 w 10000"/>
              <a:gd name="connsiteY4-10" fmla="*/ 2995 h 10000"/>
              <a:gd name="connsiteX0-11" fmla="*/ 0 w 10000"/>
              <a:gd name="connsiteY0-12" fmla="*/ 3321 h 10326"/>
              <a:gd name="connsiteX1-13" fmla="*/ 9983 w 10000"/>
              <a:gd name="connsiteY1-14" fmla="*/ 0 h 10326"/>
              <a:gd name="connsiteX2-15" fmla="*/ 10000 w 10000"/>
              <a:gd name="connsiteY2-16" fmla="*/ 10326 h 10326"/>
              <a:gd name="connsiteX3-17" fmla="*/ 0 w 10000"/>
              <a:gd name="connsiteY3-18" fmla="*/ 10326 h 10326"/>
              <a:gd name="connsiteX4-19" fmla="*/ 0 w 10000"/>
              <a:gd name="connsiteY4-20" fmla="*/ 3321 h 10326"/>
              <a:gd name="connsiteX0-21" fmla="*/ 0 w 10001"/>
              <a:gd name="connsiteY0-22" fmla="*/ 3338 h 10343"/>
              <a:gd name="connsiteX1-23" fmla="*/ 10000 w 10001"/>
              <a:gd name="connsiteY1-24" fmla="*/ 0 h 10343"/>
              <a:gd name="connsiteX2-25" fmla="*/ 10000 w 10001"/>
              <a:gd name="connsiteY2-26" fmla="*/ 10343 h 10343"/>
              <a:gd name="connsiteX3-27" fmla="*/ 0 w 10001"/>
              <a:gd name="connsiteY3-28" fmla="*/ 10343 h 10343"/>
              <a:gd name="connsiteX4-29" fmla="*/ 0 w 10001"/>
              <a:gd name="connsiteY4-30" fmla="*/ 3338 h 103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1" h="10343">
                <a:moveTo>
                  <a:pt x="0" y="3338"/>
                </a:moveTo>
                <a:lnTo>
                  <a:pt x="10000" y="0"/>
                </a:lnTo>
                <a:cubicBezTo>
                  <a:pt x="10006" y="3442"/>
                  <a:pt x="9994" y="6901"/>
                  <a:pt x="10000" y="10343"/>
                </a:cubicBezTo>
                <a:lnTo>
                  <a:pt x="0" y="10343"/>
                </a:lnTo>
                <a:lnTo>
                  <a:pt x="0" y="3338"/>
                </a:lnTo>
                <a:close/>
              </a:path>
            </a:pathLst>
          </a:custGeom>
          <a:solidFill>
            <a:srgbClr val="3F3F3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9BA9903-2883-4999-B175-77B73BF11E12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9BAE3-8096-4744-8509-3057B45F4B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1838131"/>
            <a:ext cx="12192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0" y="5019870"/>
            <a:ext cx="12192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45758" y="3435349"/>
            <a:ext cx="10986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第一次小班课</a:t>
            </a:r>
            <a:endParaRPr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77840" y="2422905"/>
            <a:ext cx="4754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 PROGRAMMING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05522" y="5133634"/>
            <a:ext cx="646199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组  号</a:t>
            </a: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计科        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学号：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箭头: V 形 19"/>
          <p:cNvSpPr/>
          <p:nvPr/>
        </p:nvSpPr>
        <p:spPr>
          <a:xfrm rot="5400000">
            <a:off x="8764051" y="2003330"/>
            <a:ext cx="195942" cy="363893"/>
          </a:xfrm>
          <a:prstGeom prst="chevron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501650" y="1798955"/>
            <a:ext cx="3200400" cy="3633470"/>
            <a:chOff x="2910" y="2538"/>
            <a:chExt cx="5040" cy="5722"/>
          </a:xfrm>
        </p:grpSpPr>
        <p:sp>
          <p:nvSpPr>
            <p:cNvPr id="5" name="Freeform 5"/>
            <p:cNvSpPr/>
            <p:nvPr/>
          </p:nvSpPr>
          <p:spPr bwMode="auto">
            <a:xfrm>
              <a:off x="3695" y="3430"/>
              <a:ext cx="3471" cy="3941"/>
            </a:xfrm>
            <a:custGeom>
              <a:avLst/>
              <a:gdLst>
                <a:gd name="T0" fmla="*/ 6935 w 12812"/>
                <a:gd name="T1" fmla="*/ 195 h 14572"/>
                <a:gd name="T2" fmla="*/ 9609 w 12812"/>
                <a:gd name="T3" fmla="*/ 1739 h 14572"/>
                <a:gd name="T4" fmla="*/ 12283 w 12812"/>
                <a:gd name="T5" fmla="*/ 3282 h 14572"/>
                <a:gd name="T6" fmla="*/ 12812 w 12812"/>
                <a:gd name="T7" fmla="*/ 4199 h 14572"/>
                <a:gd name="T8" fmla="*/ 12812 w 12812"/>
                <a:gd name="T9" fmla="*/ 7286 h 14572"/>
                <a:gd name="T10" fmla="*/ 12812 w 12812"/>
                <a:gd name="T11" fmla="*/ 10374 h 14572"/>
                <a:gd name="T12" fmla="*/ 12283 w 12812"/>
                <a:gd name="T13" fmla="*/ 11290 h 14572"/>
                <a:gd name="T14" fmla="*/ 9609 w 12812"/>
                <a:gd name="T15" fmla="*/ 12834 h 14572"/>
                <a:gd name="T16" fmla="*/ 6935 w 12812"/>
                <a:gd name="T17" fmla="*/ 14378 h 14572"/>
                <a:gd name="T18" fmla="*/ 5877 w 12812"/>
                <a:gd name="T19" fmla="*/ 14378 h 14572"/>
                <a:gd name="T20" fmla="*/ 3203 w 12812"/>
                <a:gd name="T21" fmla="*/ 12834 h 14572"/>
                <a:gd name="T22" fmla="*/ 529 w 12812"/>
                <a:gd name="T23" fmla="*/ 11290 h 14572"/>
                <a:gd name="T24" fmla="*/ 0 w 12812"/>
                <a:gd name="T25" fmla="*/ 10374 h 14572"/>
                <a:gd name="T26" fmla="*/ 0 w 12812"/>
                <a:gd name="T27" fmla="*/ 7286 h 14572"/>
                <a:gd name="T28" fmla="*/ 0 w 12812"/>
                <a:gd name="T29" fmla="*/ 4199 h 14572"/>
                <a:gd name="T30" fmla="*/ 529 w 12812"/>
                <a:gd name="T31" fmla="*/ 3282 h 14572"/>
                <a:gd name="T32" fmla="*/ 3203 w 12812"/>
                <a:gd name="T33" fmla="*/ 1739 h 14572"/>
                <a:gd name="T34" fmla="*/ 5877 w 12812"/>
                <a:gd name="T35" fmla="*/ 195 h 14572"/>
                <a:gd name="T36" fmla="*/ 6935 w 12812"/>
                <a:gd name="T37" fmla="*/ 195 h 14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12" h="14572">
                  <a:moveTo>
                    <a:pt x="6935" y="195"/>
                  </a:moveTo>
                  <a:lnTo>
                    <a:pt x="9609" y="1739"/>
                  </a:lnTo>
                  <a:lnTo>
                    <a:pt x="12283" y="3282"/>
                  </a:lnTo>
                  <a:cubicBezTo>
                    <a:pt x="12620" y="3477"/>
                    <a:pt x="12812" y="3810"/>
                    <a:pt x="12812" y="4199"/>
                  </a:cubicBezTo>
                  <a:lnTo>
                    <a:pt x="12812" y="7286"/>
                  </a:lnTo>
                  <a:lnTo>
                    <a:pt x="12812" y="10374"/>
                  </a:lnTo>
                  <a:cubicBezTo>
                    <a:pt x="12812" y="10763"/>
                    <a:pt x="12620" y="11096"/>
                    <a:pt x="12283" y="11290"/>
                  </a:cubicBezTo>
                  <a:lnTo>
                    <a:pt x="9609" y="12834"/>
                  </a:lnTo>
                  <a:lnTo>
                    <a:pt x="6935" y="14378"/>
                  </a:lnTo>
                  <a:cubicBezTo>
                    <a:pt x="6599" y="14572"/>
                    <a:pt x="6213" y="14572"/>
                    <a:pt x="5877" y="14378"/>
                  </a:cubicBezTo>
                  <a:lnTo>
                    <a:pt x="3203" y="12834"/>
                  </a:lnTo>
                  <a:lnTo>
                    <a:pt x="529" y="11290"/>
                  </a:lnTo>
                  <a:cubicBezTo>
                    <a:pt x="193" y="11096"/>
                    <a:pt x="0" y="10763"/>
                    <a:pt x="0" y="10374"/>
                  </a:cubicBezTo>
                  <a:lnTo>
                    <a:pt x="0" y="7286"/>
                  </a:lnTo>
                  <a:lnTo>
                    <a:pt x="0" y="4199"/>
                  </a:lnTo>
                  <a:cubicBezTo>
                    <a:pt x="0" y="3810"/>
                    <a:pt x="193" y="3477"/>
                    <a:pt x="529" y="3282"/>
                  </a:cubicBezTo>
                  <a:lnTo>
                    <a:pt x="3203" y="1739"/>
                  </a:lnTo>
                  <a:lnTo>
                    <a:pt x="5877" y="195"/>
                  </a:lnTo>
                  <a:cubicBezTo>
                    <a:pt x="6213" y="0"/>
                    <a:pt x="6599" y="0"/>
                    <a:pt x="6935" y="195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rgbClr val="083451"/>
              </a:solidFill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" name="Freeform 5"/>
            <p:cNvSpPr/>
            <p:nvPr/>
          </p:nvSpPr>
          <p:spPr bwMode="auto">
            <a:xfrm>
              <a:off x="2910" y="2538"/>
              <a:ext cx="5040" cy="5723"/>
            </a:xfrm>
            <a:custGeom>
              <a:avLst/>
              <a:gdLst>
                <a:gd name="T0" fmla="*/ 6935 w 12812"/>
                <a:gd name="T1" fmla="*/ 195 h 14572"/>
                <a:gd name="T2" fmla="*/ 9609 w 12812"/>
                <a:gd name="T3" fmla="*/ 1739 h 14572"/>
                <a:gd name="T4" fmla="*/ 12283 w 12812"/>
                <a:gd name="T5" fmla="*/ 3282 h 14572"/>
                <a:gd name="T6" fmla="*/ 12812 w 12812"/>
                <a:gd name="T7" fmla="*/ 4199 h 14572"/>
                <a:gd name="T8" fmla="*/ 12812 w 12812"/>
                <a:gd name="T9" fmla="*/ 7286 h 14572"/>
                <a:gd name="T10" fmla="*/ 12812 w 12812"/>
                <a:gd name="T11" fmla="*/ 10374 h 14572"/>
                <a:gd name="T12" fmla="*/ 12283 w 12812"/>
                <a:gd name="T13" fmla="*/ 11290 h 14572"/>
                <a:gd name="T14" fmla="*/ 9609 w 12812"/>
                <a:gd name="T15" fmla="*/ 12834 h 14572"/>
                <a:gd name="T16" fmla="*/ 6935 w 12812"/>
                <a:gd name="T17" fmla="*/ 14378 h 14572"/>
                <a:gd name="T18" fmla="*/ 5877 w 12812"/>
                <a:gd name="T19" fmla="*/ 14378 h 14572"/>
                <a:gd name="T20" fmla="*/ 3203 w 12812"/>
                <a:gd name="T21" fmla="*/ 12834 h 14572"/>
                <a:gd name="T22" fmla="*/ 529 w 12812"/>
                <a:gd name="T23" fmla="*/ 11290 h 14572"/>
                <a:gd name="T24" fmla="*/ 0 w 12812"/>
                <a:gd name="T25" fmla="*/ 10374 h 14572"/>
                <a:gd name="T26" fmla="*/ 0 w 12812"/>
                <a:gd name="T27" fmla="*/ 7286 h 14572"/>
                <a:gd name="T28" fmla="*/ 0 w 12812"/>
                <a:gd name="T29" fmla="*/ 4199 h 14572"/>
                <a:gd name="T30" fmla="*/ 529 w 12812"/>
                <a:gd name="T31" fmla="*/ 3282 h 14572"/>
                <a:gd name="T32" fmla="*/ 3203 w 12812"/>
                <a:gd name="T33" fmla="*/ 1739 h 14572"/>
                <a:gd name="T34" fmla="*/ 5877 w 12812"/>
                <a:gd name="T35" fmla="*/ 195 h 14572"/>
                <a:gd name="T36" fmla="*/ 6935 w 12812"/>
                <a:gd name="T37" fmla="*/ 195 h 14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12" h="14572">
                  <a:moveTo>
                    <a:pt x="6935" y="195"/>
                  </a:moveTo>
                  <a:lnTo>
                    <a:pt x="9609" y="1739"/>
                  </a:lnTo>
                  <a:lnTo>
                    <a:pt x="12283" y="3282"/>
                  </a:lnTo>
                  <a:cubicBezTo>
                    <a:pt x="12620" y="3477"/>
                    <a:pt x="12812" y="3810"/>
                    <a:pt x="12812" y="4199"/>
                  </a:cubicBezTo>
                  <a:lnTo>
                    <a:pt x="12812" y="7286"/>
                  </a:lnTo>
                  <a:lnTo>
                    <a:pt x="12812" y="10374"/>
                  </a:lnTo>
                  <a:cubicBezTo>
                    <a:pt x="12812" y="10763"/>
                    <a:pt x="12620" y="11096"/>
                    <a:pt x="12283" y="11290"/>
                  </a:cubicBezTo>
                  <a:lnTo>
                    <a:pt x="9609" y="12834"/>
                  </a:lnTo>
                  <a:lnTo>
                    <a:pt x="6935" y="14378"/>
                  </a:lnTo>
                  <a:cubicBezTo>
                    <a:pt x="6599" y="14572"/>
                    <a:pt x="6213" y="14572"/>
                    <a:pt x="5877" y="14378"/>
                  </a:cubicBezTo>
                  <a:lnTo>
                    <a:pt x="3203" y="12834"/>
                  </a:lnTo>
                  <a:lnTo>
                    <a:pt x="529" y="11290"/>
                  </a:lnTo>
                  <a:cubicBezTo>
                    <a:pt x="193" y="11096"/>
                    <a:pt x="0" y="10763"/>
                    <a:pt x="0" y="10374"/>
                  </a:cubicBezTo>
                  <a:lnTo>
                    <a:pt x="0" y="7286"/>
                  </a:lnTo>
                  <a:lnTo>
                    <a:pt x="0" y="4199"/>
                  </a:lnTo>
                  <a:cubicBezTo>
                    <a:pt x="0" y="3810"/>
                    <a:pt x="193" y="3477"/>
                    <a:pt x="529" y="3282"/>
                  </a:cubicBezTo>
                  <a:lnTo>
                    <a:pt x="3203" y="1739"/>
                  </a:lnTo>
                  <a:lnTo>
                    <a:pt x="5877" y="195"/>
                  </a:lnTo>
                  <a:cubicBezTo>
                    <a:pt x="6213" y="0"/>
                    <a:pt x="6599" y="0"/>
                    <a:pt x="6935" y="195"/>
                  </a:cubicBezTo>
                  <a:close/>
                </a:path>
              </a:pathLst>
            </a:custGeom>
            <a:noFill/>
            <a:ln w="12700">
              <a:solidFill>
                <a:srgbClr val="093B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Box 59"/>
            <p:cNvSpPr txBox="1">
              <a:spLocks noChangeArrowheads="1"/>
            </p:cNvSpPr>
            <p:nvPr/>
          </p:nvSpPr>
          <p:spPr bwMode="auto">
            <a:xfrm flipH="1">
              <a:off x="3684" y="4600"/>
              <a:ext cx="3493" cy="15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3600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en-US" altLang="zh-CN" sz="3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defRPr/>
              </a:pPr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en-US" altLang="ko-KR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378825" y="571500"/>
            <a:ext cx="1966595" cy="923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368165" y="1751497"/>
            <a:ext cx="7363460" cy="3724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73152" tIns="9144" bIns="9144" rtlCol="0" anchor="ctr">
            <a:spAutoFit/>
          </a:bodyPr>
          <a:lstStyle/>
          <a:p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/ </a:t>
            </a:r>
            <a:r>
              <a:rPr lang="en-US" altLang="zh-CN" sz="23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位运算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（练习二 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选择题12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68165" y="2400721"/>
            <a:ext cx="7363460" cy="3724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73152" tIns="9144" bIns="9144" rtlCol="0" anchor="ctr">
            <a:spAutoFit/>
          </a:bodyPr>
          <a:lstStyle/>
          <a:p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/ </a:t>
            </a:r>
            <a:r>
              <a:rPr lang="en-US" altLang="zh-CN" sz="23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格式化输出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3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支票代码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（练习二 编程题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68165" y="3049945"/>
            <a:ext cx="7363460" cy="3724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73152" tIns="9144" bIns="9144" rtlCol="0" anchor="ctr">
            <a:spAutoFit/>
          </a:bodyPr>
          <a:lstStyle/>
          <a:p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/ </a:t>
            </a:r>
            <a:r>
              <a:rPr lang="en-US" altLang="zh-CN" sz="23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3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小芳找工作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（练习三 编程题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68165" y="3699168"/>
            <a:ext cx="7363460" cy="3724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73152" tIns="9144" bIns="9144" rtlCol="0" anchor="ctr">
            <a:spAutoFit/>
          </a:bodyPr>
          <a:lstStyle/>
          <a:p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/ </a:t>
            </a:r>
            <a:r>
              <a:rPr lang="en-US" altLang="zh-CN" sz="23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循环比较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3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小卖部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（练习四 编程题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68165" y="4348393"/>
            <a:ext cx="7363460" cy="3724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73152" tIns="9144" bIns="9144" rtlCol="0" anchor="ctr">
            <a:spAutoFit/>
          </a:bodyPr>
          <a:lstStyle/>
          <a:p>
            <a:r>
              <a:rPr lang="en-US" altLang="zh-CN" sz="23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/ </a:t>
            </a:r>
            <a:r>
              <a:rPr lang="en-US" altLang="zh-CN" sz="23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枚举</a:t>
            </a:r>
            <a:r>
              <a:rPr lang="en-US" altLang="zh-CN" sz="23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3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阿迪分糖</a:t>
            </a:r>
            <a:r>
              <a:rPr lang="zh-CN" altLang="en-US" sz="23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（练习六 编程题</a:t>
            </a:r>
            <a:r>
              <a:rPr lang="en-US" altLang="zh-CN" sz="23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3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2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68165" y="4997617"/>
            <a:ext cx="7363460" cy="3724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73152" tIns="9144" bIns="9144" rtlCol="0" anchor="ctr">
            <a:spAutoFit/>
          </a:bodyPr>
          <a:lstStyle/>
          <a:p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 / </a:t>
            </a:r>
            <a:r>
              <a:rPr lang="en-US" altLang="zh-CN" sz="23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质数判定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（补充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OJ 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第四题）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C36645-B4E8-F1C8-8EB0-42B2EAB590BF}"/>
              </a:ext>
            </a:extLst>
          </p:cNvPr>
          <p:cNvSpPr txBox="1"/>
          <p:nvPr/>
        </p:nvSpPr>
        <p:spPr>
          <a:xfrm>
            <a:off x="4368165" y="5646841"/>
            <a:ext cx="7363460" cy="3724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73152" tIns="9144" bIns="9144" rtlCol="0" anchor="ctr">
            <a:spAutoFit/>
          </a:bodyPr>
          <a:lstStyle/>
          <a:p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 / DFS 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迷宫（洛谷</a:t>
            </a:r>
            <a:r>
              <a:rPr lang="en-US" altLang="zh-CN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P1605</a:t>
            </a:r>
            <a:r>
              <a:rPr lang="zh-CN" altLang="en-US" sz="2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905256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1、练习二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选择题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第十二题</a:t>
            </a:r>
            <a:endParaRPr sz="24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5239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【题目】</a:t>
            </a:r>
          </a:p>
        </p:txBody>
      </p:sp>
      <p:pic>
        <p:nvPicPr>
          <p:cNvPr id="6" name="Picture 5" descr="q1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55648"/>
            <a:ext cx="9829800" cy="380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754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1-思路分析及原理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5074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这是一道考察按位与运算符的基础题。我们先了解一下按位与的运算规则：</a:t>
            </a: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&amp;=”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是复合赋值运算符：先计算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 &amp; 3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，再把结果赋回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，等价于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 = x &amp; 3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&amp;”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是按位与：两个操作数的对应二进制位都为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时，结果位才为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，否则为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接着将解题步骤逐步拆解：</a:t>
            </a:r>
            <a:endParaRPr lang="zh-CN" altLang="en-US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和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写成二进制：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= 1000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= 0011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（位数对齐，不足补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）。</a:t>
            </a: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按位与：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1000 &amp; 0011 = 0000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，所以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的值变为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，正确选项是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题外话：</a:t>
            </a: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易错点：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&amp;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是按位与，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&amp;&amp;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是逻辑与；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和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都非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，若写成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&amp;&amp; 3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，结果是 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（真）。</a:t>
            </a: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</a:t>
            </a: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扩展：用“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&amp;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”符号可以判断一个数的奇偶（因为转化为二进制后奇数的最后一位一定是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，偶数的最后一位一定是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），且运行速度更快（由底层运算决定），如（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n&amp;1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）比（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n%2!=0)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更快。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5504688"/>
            <a:ext cx="10625328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5504688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264" y="5568696"/>
            <a:ext cx="1029614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答案：</a:t>
            </a:r>
            <a:r>
              <a:rPr sz="14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C（0）——8 的二进制 1000 与 3 的二进制 0011 按位与得到 0000。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950976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2、练习二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编程题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第五题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支票代码输出</a:t>
            </a:r>
            <a:endParaRPr sz="24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5239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16152"/>
            <a:ext cx="10625328" cy="4892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7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问题描述</a:t>
            </a: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2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输入支票代码（正整数）和支票金额（浮点数</a:t>
            </a:r>
            <a:r>
              <a:rPr sz="162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）；</a:t>
            </a:r>
            <a:r>
              <a:rPr sz="162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按格式要求输出：支票代码占</a:t>
            </a:r>
            <a:r>
              <a:rPr sz="162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8 </a:t>
            </a:r>
            <a:r>
              <a:rPr sz="162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位，不足</a:t>
            </a:r>
            <a:r>
              <a:rPr sz="162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8 </a:t>
            </a:r>
            <a:r>
              <a:rPr sz="162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位则补充前导符</a:t>
            </a:r>
            <a:r>
              <a:rPr sz="162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'0'；支票金额保留两位小数。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7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输入格式</a:t>
            </a: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2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一行，两个数：支票代码、支票金额，中间用空格隔开</a:t>
            </a:r>
            <a:r>
              <a:rPr sz="162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7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输出格式</a:t>
            </a: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2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共两行：第一行为</a:t>
            </a:r>
            <a:r>
              <a:rPr sz="162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8 </a:t>
            </a:r>
            <a:r>
              <a:rPr sz="162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位支票代码；第二行为保留两位小数的支票金额</a:t>
            </a:r>
            <a:r>
              <a:rPr sz="162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7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样例输入</a:t>
            </a: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20" b="0" i="0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123456 123.1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7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样例输出</a:t>
            </a: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20" b="0" i="0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00123456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20" b="0" i="0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123.10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7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样例说明</a:t>
            </a:r>
            <a:r>
              <a:rPr sz="167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2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相关知识点：浮点数输出时的精度、宽度和填充字符</a:t>
            </a:r>
            <a:r>
              <a:rPr sz="162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754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2-思路分析及原理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5074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zh-CN" altLang="en-US" sz="18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这是一道考察调整输出格式的基础题。我们先了解一下本道题涉及的知识：</a:t>
            </a:r>
            <a:endParaRPr lang="en-US" altLang="zh-CN" sz="1800" b="1" i="0" dirty="0">
              <a:solidFill>
                <a:srgbClr val="FFD9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&lt;</a:t>
            </a:r>
            <a:r>
              <a:rPr lang="en-US" b="1" dirty="0" err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iomanip</a:t>
            </a:r>
            <a:r>
              <a:rPr 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&gt;</a:t>
            </a: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头文件下的</a:t>
            </a:r>
            <a:r>
              <a:rPr lang="en-US" altLang="zh-CN" b="1" dirty="0" err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setw</a:t>
            </a: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()</a:t>
            </a: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b="1" dirty="0" err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setfill</a:t>
            </a: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()</a:t>
            </a: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函数（专业名称叫流操纵符）：</a:t>
            </a:r>
            <a:endParaRPr lang="en-US" altLang="zh-CN" b="1" dirty="0">
              <a:solidFill>
                <a:srgbClr val="FFD9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zh-CN" altLang="en-US" dirty="0">
                <a:latin typeface="微软雅黑"/>
                <a:ea typeface="微软雅黑"/>
                <a:cs typeface="微软雅黑"/>
              </a:rPr>
              <a:t>①</a:t>
            </a:r>
            <a:r>
              <a:rPr lang="en-US" altLang="zh-CN" dirty="0" err="1">
                <a:latin typeface="微软雅黑"/>
                <a:ea typeface="微软雅黑"/>
                <a:cs typeface="微软雅黑"/>
              </a:rPr>
              <a:t>setw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()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设置下一次输出的最小输出长度。如</a:t>
            </a:r>
            <a:r>
              <a:rPr lang="en-US" altLang="zh-CN" dirty="0" err="1">
                <a:latin typeface="微软雅黑"/>
                <a:ea typeface="微软雅黑"/>
                <a:cs typeface="微软雅黑"/>
              </a:rPr>
              <a:t>setw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(n)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表示下一次的输出长度为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，若实际输出长度大于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，则原样输出（即</a:t>
            </a:r>
            <a:r>
              <a:rPr lang="en-US" altLang="zh-CN" dirty="0" err="1">
                <a:latin typeface="微软雅黑"/>
                <a:ea typeface="微软雅黑"/>
                <a:cs typeface="微软雅黑"/>
              </a:rPr>
              <a:t>setw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失效），若实际输出长度小于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，则在输出内容左边补上空格（即右对齐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)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直至符合设置输出宽度；</a:t>
            </a:r>
            <a:r>
              <a:rPr lang="en-US" altLang="zh-CN" dirty="0" err="1">
                <a:latin typeface="微软雅黑"/>
                <a:ea typeface="微软雅黑"/>
                <a:cs typeface="微软雅黑"/>
              </a:rPr>
              <a:t>setw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()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是一次性的。</a:t>
            </a:r>
            <a:endParaRPr lang="en-US" altLang="zh-CN" dirty="0"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zh-CN" altLang="en-US" sz="1800" i="0" dirty="0">
                <a:latin typeface="微软雅黑"/>
                <a:ea typeface="微软雅黑"/>
                <a:cs typeface="微软雅黑"/>
              </a:rPr>
              <a:t>②</a:t>
            </a:r>
            <a:r>
              <a:rPr lang="en-US" altLang="zh-CN" sz="1800" i="0" dirty="0" err="1">
                <a:latin typeface="微软雅黑"/>
                <a:ea typeface="微软雅黑"/>
                <a:cs typeface="微软雅黑"/>
              </a:rPr>
              <a:t>setfill</a:t>
            </a:r>
            <a:r>
              <a:rPr lang="en-US" altLang="zh-CN" sz="1800" i="0" dirty="0">
                <a:latin typeface="微软雅黑"/>
                <a:ea typeface="微软雅黑"/>
                <a:cs typeface="微软雅黑"/>
              </a:rPr>
              <a:t>()</a:t>
            </a:r>
            <a:r>
              <a:rPr lang="zh-CN" altLang="en-US" sz="1800" i="0" dirty="0">
                <a:latin typeface="微软雅黑"/>
                <a:ea typeface="微软雅黑"/>
                <a:cs typeface="微软雅黑"/>
              </a:rPr>
              <a:t>设置填充字符。如</a:t>
            </a:r>
            <a:r>
              <a:rPr lang="en-US" altLang="zh-CN" sz="1800" i="0" dirty="0" err="1">
                <a:latin typeface="微软雅黑"/>
                <a:ea typeface="微软雅黑"/>
                <a:cs typeface="微软雅黑"/>
              </a:rPr>
              <a:t>s</a:t>
            </a:r>
            <a:r>
              <a:rPr lang="en-US" altLang="zh-CN" dirty="0" err="1">
                <a:latin typeface="微软雅黑"/>
                <a:ea typeface="微软雅黑"/>
                <a:cs typeface="微软雅黑"/>
              </a:rPr>
              <a:t>etfill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(‘0’)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表示在空位填充字符‘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0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’。一般来说，</a:t>
            </a:r>
            <a:r>
              <a:rPr lang="en-US" altLang="zh-CN" dirty="0" err="1">
                <a:latin typeface="微软雅黑"/>
                <a:ea typeface="微软雅黑"/>
                <a:cs typeface="微软雅黑"/>
              </a:rPr>
              <a:t>setfill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()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与</a:t>
            </a:r>
            <a:r>
              <a:rPr lang="en-US" altLang="zh-CN" dirty="0" err="1">
                <a:latin typeface="微软雅黑"/>
                <a:ea typeface="微软雅黑"/>
                <a:cs typeface="微软雅黑"/>
              </a:rPr>
              <a:t>setw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()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要同时使用，且值得注意的是，</a:t>
            </a:r>
            <a:r>
              <a:rPr lang="en-US" altLang="zh-CN" dirty="0" err="1">
                <a:latin typeface="微软雅黑"/>
                <a:ea typeface="微软雅黑"/>
                <a:cs typeface="微软雅黑"/>
              </a:rPr>
              <a:t>setfill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()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具有全局性，只有再次更改</a:t>
            </a:r>
            <a:r>
              <a:rPr lang="en-US" altLang="zh-CN" dirty="0" err="1">
                <a:latin typeface="微软雅黑"/>
                <a:ea typeface="微软雅黑"/>
                <a:cs typeface="微软雅黑"/>
              </a:rPr>
              <a:t>setfill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()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填充的字符才能修改后续输出格式。</a:t>
            </a:r>
            <a:endParaRPr lang="en-US" altLang="zh-CN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接着将解题思路拆解</a:t>
            </a: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:</a:t>
            </a:r>
            <a:endParaRPr lang="en-US" sz="1800" b="1" i="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sz="18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顺序结构：先读入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步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支票代码和金额，再按题目要求分两行输出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sz="18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支票代码要“占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8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位、不足补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0”：用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setw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(8)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设置宽度，用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setfill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('0')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设置填充字符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sz="18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金额要“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保留两位小数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”：用 fixed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固定小数格式，再用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setprecision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(2) </a:t>
            </a:r>
            <a:r>
              <a:rPr sz="18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指定小数位数</a:t>
            </a:r>
            <a:r>
              <a:rPr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800" b="0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6000"/>
              </a:lnSpc>
              <a:spcBef>
                <a:spcPts val="200"/>
              </a:spcBef>
              <a:spcAft>
                <a:spcPts val="700"/>
              </a:spcAft>
            </a:pPr>
            <a:r>
              <a:rPr lang="zh-CN" altLang="en-US" sz="18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  特别注意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: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处理浮点数时，最好用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double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而不是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float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，这样能避免可能存在的精度丢失。</a:t>
            </a:r>
            <a:endParaRPr sz="1800" b="0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5504688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2-代码逐行讲解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头文件：&lt;iostream&gt; 负责输入输出，&lt;iomanip&gt; 提供 setw、setfill、fixed、setprecision。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变量：code 保存支票代码（无符号整数），amount 保存金额（double，比 float 更稳）。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读入：用 cin 依次读入 code 和 amount，顺序与题目输入一致。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第一行输出：setfill('0') + setw(8) + code；不足 8 位时左侧自动补 0。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第二行输出：fixed + setprecision(2) + amount，保留两位小数。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每行末尾换行，return 0 结束程序。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 </a:t>
            </a:r>
            <a:r>
              <a:rPr sz="20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Check.cpp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512064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2-用例及运行结果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123456 123.1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支票代码 6 位，前面补 2 个 0；金额保留两位小数。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655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7 0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支票代码只有 1 位，前面补 7 个 0；金额 0 也要输出两位小数。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6559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1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20260801 999.999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6559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支票代码正好 8 位，不补 0；金额四舍五入到两位小数。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4535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以上输出均由对应 .cpp 程序实际运行得到。代码文件：</a:t>
            </a:r>
            <a:r>
              <a:rPr sz="12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Check.cpp</a:t>
            </a:r>
          </a:p>
        </p:txBody>
      </p:sp>
      <p:pic>
        <p:nvPicPr>
          <p:cNvPr id="40" name="Picture 39" descr="Q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70647"/>
            <a:ext cx="3154680" cy="753281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1" name="Picture 40" descr="Q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070647"/>
            <a:ext cx="3154680" cy="753281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2" name="Picture 41" descr="Q2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070647"/>
            <a:ext cx="3154680" cy="753281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969264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3、练习三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编程题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第十题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小芳找工作</a:t>
            </a:r>
            <a:endParaRPr sz="24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5239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16152"/>
            <a:ext cx="10625328" cy="4892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0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问题描述</a:t>
            </a: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小芳在校期间成绩优秀，毕业之前她决定去找一份她喜欢的工作。</a:t>
            </a:r>
            <a:r>
              <a:rPr sz="1550" b="0" i="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她将在自己中意的公司中选择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，并设定了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个条件，满足其中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个条件的工作她认为可以接受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这 3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个条件分别是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月薪不低于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5000 元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有带薪休假</a:t>
            </a:r>
            <a:endParaRPr sz="1550" b="0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离家不超过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2000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公里</a:t>
            </a:r>
            <a:endParaRPr sz="1550" b="0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请根据某公司给定的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个条件的数据，判断小芳是否应该接受该公司的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offer。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0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输入形式</a:t>
            </a: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输入一行包含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个数据，分别表示公司给定的月薪（整数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）、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有无带薪休假（y-有，n-无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）、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离家距离（整数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0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输出形式</a:t>
            </a: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输出一行，Accept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为接受，Refuse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为拒绝</a:t>
            </a:r>
            <a:r>
              <a:rPr sz="15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0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示例输入</a:t>
            </a: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6000 y 1500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160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示例输出</a:t>
            </a:r>
            <a:r>
              <a:rPr sz="1600" b="1" i="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Accept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754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3-思路分析及原理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5074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这是一道考察选择结构（条件判断）的基础题。我们先梳理题目中的 3 个条件：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月薪不低于 5000 元；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有带薪休假（输入 y 表示有，n 表示无）；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离家不超过 2000 公里。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接着将解题思路拆解：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读入月薪 salary、带薪休假标志 vocation、离家距离 s。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三个条件中满足两个即可接受，可以按“两两组合”来写。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情况一：salary &gt;= 5000 且 vocation == 'y'，输出 Accept。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情况二：salary &gt;= 5000 且 s &lt;= 2000，输出 Accept。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情况三：vocation == 'y' 且 s &lt;= 2000，输出 Accept。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其它情况说明只满足 0 个或 1 个条件，输出 Refuse。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特别注意：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输入顺序是“月薪、字符 y/n、距离”，字符变量要用 char；判断时不要漏掉任意一种两两组合。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04688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3-代码逐行讲解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定义三个变量：整型 salary、s，字符型 vocation，分别保存月薪、距离和带薪休假标志。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按题目顺序读入 salary、vocation、s 三个变量。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第一个分支：salary &gt;= 5000 且 vocation == 'y'，输出 Accept。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否则若 salary &gt;= 5000 且 s &lt;= 2000，输出 Accept。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否则若 vocation == 'y' 且 s &lt;= 2000，输出 Accept。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否则输出 Refuse。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7.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三个分支用 else if 连接，命中一个就不再判断后面的。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 </a:t>
            </a:r>
            <a:r>
              <a:rPr sz="20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FindJob.cpp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512064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3-用例及运行结果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6000 y 1500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 err="1">
                <a:solidFill>
                  <a:srgbClr val="9B0000"/>
                </a:solidFill>
                <a:latin typeface="Consolas"/>
                <a:ea typeface="Consolas"/>
                <a:cs typeface="Consolas"/>
              </a:rPr>
              <a:t>三个条件都满足</a:t>
            </a:r>
            <a:endParaRPr sz="1200" b="0" i="0" dirty="0">
              <a:solidFill>
                <a:srgbClr val="9B000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月薪、带薪休假、距离都满足，接受</a:t>
            </a:r>
            <a:r>
              <a:rPr sz="12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655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4000 n 1000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0000"/>
                </a:solidFill>
                <a:latin typeface="Consolas"/>
                <a:ea typeface="Consolas"/>
                <a:cs typeface="Consolas"/>
              </a:rPr>
              <a:t>只满足距离条件（1 个）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月薪和带薪休假不满足，只有 1 个条件，拒绝。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6559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1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5000 y 3000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6559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0000"/>
                </a:solidFill>
                <a:latin typeface="Consolas"/>
                <a:ea typeface="Consolas"/>
                <a:cs typeface="Consolas"/>
              </a:rPr>
              <a:t>满足月薪 + 带薪休假（2 个）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满足 2 个条件即可接受，距离不满足也没关系。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4535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以上输出均由对应 .cpp 程序实际运行得到。代码文件：</a:t>
            </a:r>
            <a:r>
              <a:rPr sz="12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FindJob.cpp</a:t>
            </a:r>
          </a:p>
        </p:txBody>
      </p:sp>
      <p:pic>
        <p:nvPicPr>
          <p:cNvPr id="40" name="Picture 39" descr="Q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46962"/>
            <a:ext cx="3154680" cy="600651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1" name="Picture 40" descr="Q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161648"/>
            <a:ext cx="3154680" cy="571280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2" name="Picture 41" descr="Q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146962"/>
            <a:ext cx="3154680" cy="600651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987552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4、问题-练习四 编程题 第七题 小卖部最赚钱的一天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5239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16152"/>
            <a:ext cx="10625328" cy="4892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【问题描述】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有个小卖部，每天会记录成本 C 和销售额 S，记录了 n（1≤n&lt;100）天之后，需要找出这 n 天当中最赚钱的是哪天；有可能 n 天都亏损，那就找到亏损最少的那一天。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【输入格式】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n+1 行：第一行输入记录的天数 n；接下来 n 行，每行 2 个整数，分别是当天的成本 C 和销售额 S。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【输出格式】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一行，一个整数，表示第几天最赚钱。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【样例输入】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78 99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89 65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247 356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199 325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【样例输出】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6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【样例说明】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利润 = 销售额 - 成本；第 4 天利润 126，最大。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754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4-思路分析及原理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5074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这是一道考察循环与最值的基础题。我们先明确“最赚钱”的含义：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每天的利润 = 销售额 S - 成本 C；利润最大的那天就是最赚钱的一天。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接着将解题思路拆解：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 bestProfit 记录当前最大利润，bestDay 记录对应天数。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bestProfit 初始化为一个很小的数（如 -1e9），保证第 1 天一定能更新。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 i = 1..n，边读入 C、S，边计算 profit = S - C。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若 profit &gt; bestProfit，更新 bestProfit 和 bestDay。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 &gt; 保证并列时取第一次出现的天数。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循环结束输出 bestDay。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特别注意：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bestProfit 要初始化为很小的数；如果全亏损，也要能正确找到亏损最少的那一天。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04688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4-代码逐行讲解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读入天数 n。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初始化 bestProfit = -1e9，bestDay = 1。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 i = 1..n：读入当天的成本 C 和销售额 S。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计算 profit = S - C。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若 profit &gt; bestProfit，更新 bestProfit = profit，bestDay = i。</a:t>
            </a:r>
          </a:p>
          <a:p>
            <a:pPr algn="l">
              <a:lnSpc>
                <a:spcPct val="11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循环结束输出 bestDay。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</a:t>
            </a:r>
            <a:r>
              <a:rPr sz="200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Shop.cpp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512064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4-用例及运行结果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1947672"/>
            <a:ext cx="3282696" cy="15910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020824"/>
            <a:ext cx="3099816" cy="1444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78 99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89 65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247 356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199 325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6484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38953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946903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193792"/>
            <a:ext cx="3282696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0000"/>
                </a:solidFill>
                <a:latin typeface="Consolas"/>
                <a:ea typeface="Consolas"/>
                <a:cs typeface="Consolas"/>
              </a:rPr>
              <a:t>利润：21, -24, 109, 126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 4 天利润 126，最大。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6552" y="1947672"/>
            <a:ext cx="3282696" cy="15910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2020824"/>
            <a:ext cx="3099816" cy="1444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100 80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50 40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30 20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36484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38953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4946903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5193792"/>
            <a:ext cx="3282696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0000"/>
                </a:solidFill>
                <a:latin typeface="Consolas"/>
                <a:ea typeface="Consolas"/>
                <a:cs typeface="Consolas"/>
              </a:rPr>
              <a:t>利润：-20, -10, -10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全亏损时取亏损最少；第 2、3 天并列，输出第一次出现的第 2 天。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6559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1947672"/>
            <a:ext cx="3282696" cy="15910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1" y="2020824"/>
            <a:ext cx="3099816" cy="1444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10 20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30 50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100 100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0 100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50 40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36484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38953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65592" y="4946903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5193792"/>
            <a:ext cx="3282696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0000"/>
                </a:solidFill>
                <a:latin typeface="Consolas"/>
                <a:ea typeface="Consolas"/>
                <a:cs typeface="Consolas"/>
              </a:rPr>
              <a:t>利润：10, 20, 0, 100, -10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 4 天利润 100，最大。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4535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以上输出均由对应 .cpp 程序实际运行得到。代码文件：</a:t>
            </a:r>
            <a:r>
              <a:rPr sz="12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Shop.cpp</a:t>
            </a:r>
          </a:p>
        </p:txBody>
      </p:sp>
      <p:pic>
        <p:nvPicPr>
          <p:cNvPr id="40" name="Picture 39" descr="Q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78575"/>
            <a:ext cx="3154680" cy="566225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1" name="Picture 40" descr="Q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4078575"/>
            <a:ext cx="3154680" cy="566225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2" name="Picture 41" descr="Q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078575"/>
            <a:ext cx="3154680" cy="566225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969264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5、练习六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编程题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第八题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阿迪分糖（P1）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5239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16152"/>
            <a:ext cx="10625328" cy="4892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【问题描述】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阿迪和他的朋友一共 k 个人，分吃 n 颗糖，每颗糖只能分给他们中的某个人或者丢弃。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人的编号从 1 到 k，阿迪是第 1 号。阿迪将选择一个正整数 x 来分糖：他先给自己 x 颗，然后给下一个人 x 颗，再给第三个人 x 颗，如此继续，循环往复。剩余的（不能整除 x 的部分）将会丢弃。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阿迪不能选择大于 M 的 x 去分配，因为这样会被别人认为太贪心（嘿嘿，其实他真的很贪心）。还有，他不能选择一个小的 x，使得有人会收到糖的次数超过 D，这样会被认为分得太慢。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阿迪想请你找出一个有效的 x，保证让阿迪能得到最多的糖。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596128"/>
            <a:ext cx="1060704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5641848"/>
            <a:ext cx="91439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 个人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2536" y="5596128"/>
            <a:ext cx="1568195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75688" y="5641848"/>
            <a:ext cx="14218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阿迪第 1 个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5324" y="5596128"/>
            <a:ext cx="1229868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08476" y="5641848"/>
            <a:ext cx="108356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x ≤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9783" y="5596128"/>
            <a:ext cx="173736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02936" y="5641848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每人次数 ≤ 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694944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5、阿迪分糖（P2）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5239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16152"/>
            <a:ext cx="10625328" cy="4892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【输入形式】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一行 4 个整数 n、k、M 和 D，分别表示糖的数量、人的数量、每次能分配的最大数量、人可以收到糖的最大次数。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【输出形式】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输出为一个整数，表示阿迪自己能收到的最大可能的糖的颗数。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【样例输入 1】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20 4 5 2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【样例输出 1】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【样例输入 2】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30 9 4 1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【样例输出 2】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提示：x 必须同时满足 1 ≤ x ≤ M，并且每个人收到糖的次数不能超过 D。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754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5-思路分析及原理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5074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dirty="0" err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这是一道考察枚举与整除关系的基础题。我们先明确每个人收到糖的次数</a:t>
            </a:r>
            <a:r>
              <a:rPr sz="17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把“给一个人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x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颗”看作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个人次；每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k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个人次为一轮，阿迪是第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个人次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阿迪能拿到多少颗，由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getcandy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(x)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里的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round 和 rest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计算，具体见下一页代码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dirty="0" err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接着将解题思路拆解</a:t>
            </a:r>
            <a:r>
              <a:rPr sz="17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读入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n、k、M、D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求枚举起点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N：</a:t>
            </a:r>
            <a:r>
              <a:rPr lang="zh-CN" altLang="en-US"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由数学公式，</a:t>
            </a:r>
            <a:r>
              <a:rPr lang="en-US" altLang="zh-CN"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N=n/(k*D+1)+1</a:t>
            </a:r>
            <a:endParaRPr lang="en-US" sz="1700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 x = N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枚举到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M。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对每个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x，round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= n/(k*x)，rest = n - round*k*x。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若 rest &lt;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x，阿迪拿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round*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x；否则拿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(round+1)*x。</a:t>
            </a:r>
            <a:r>
              <a:rPr lang="en-US"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lang="zh-CN" altLang="en-US"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注意判断</a:t>
            </a:r>
            <a:r>
              <a:rPr lang="en-US" altLang="zh-CN"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round+1</a:t>
            </a:r>
            <a:r>
              <a:rPr lang="zh-CN" altLang="en-US"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是否大于</a:t>
            </a:r>
            <a:r>
              <a:rPr lang="en-US" altLang="zh-CN"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  <a:r>
              <a:rPr lang="zh-CN" altLang="en-US"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）</a:t>
            </a:r>
            <a:endParaRPr sz="1700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 max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更新答案，最后输出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700" b="1" dirty="0" err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特别注意</a:t>
            </a:r>
            <a:r>
              <a:rPr sz="17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 用 if/else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分两种情况求；x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从 N </a:t>
            </a:r>
            <a:r>
              <a:rPr sz="17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开始枚举，不要漏掉</a:t>
            </a:r>
            <a:r>
              <a:rPr sz="17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x = M。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04688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5-代码逐行讲解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定义全局变量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n、k、M、D、N，以及函数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getcandy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(x)。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读入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n、k、M、D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求 N：N = n/(k*D</a:t>
            </a:r>
            <a:r>
              <a:rPr lang="en-US"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+1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)+1。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= N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枚举到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M，用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max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Max。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getcandy：round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= n/(k*x)，rest = n - round*k*x。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若 rest &lt;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x，返回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round*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x；否则返回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(round+1)*x。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7.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Max。</a:t>
            </a:r>
            <a:endParaRPr lang="en-US" sz="1800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我们重点解释一下每轮最小分糖果数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的求法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颗糖果，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个人，每次分糖果不超过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颗，分糖果不超过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轮，阿迪第一个拿到糖果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假设我们分到了第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轮，每轮分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颗糖果，分完后还有糖果剩余，则剩余糖果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:R=n-k*D*x;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不能超过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轮，说明剩余糖果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R&lt;x,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于是得到不等式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:n-k*D*x&lt;x;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解出不等式如下。由于“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”向下取整的性质，最终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的表达式为：</a:t>
            </a:r>
            <a:r>
              <a:rPr lang="pt-BR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 = n/(k*D+1)+1</a:t>
            </a:r>
            <a:br>
              <a:rPr lang="zh-CN" altLang="zh-CN" dirty="0"/>
            </a:b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 </a:t>
            </a:r>
            <a:r>
              <a:rPr sz="20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Candy.cpp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0BCDF8-5881-6E00-25F5-634D5987B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201409"/>
            <a:ext cx="1364070" cy="6050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F90773A-B7CC-4083-7183-FCC13249F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802" y="5242157"/>
            <a:ext cx="2865075" cy="8908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512064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5-用例及运行结果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20 4 5 2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0000"/>
                </a:solidFill>
                <a:latin typeface="Consolas"/>
                <a:ea typeface="Consolas"/>
                <a:cs typeface="Consolas"/>
              </a:rPr>
              <a:t>x=4：round=1，rest=4≥4，2×4=8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 = 4 时，完整 1 轮后再多拿 1 次，共 8 颗，为最大值。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655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30 9 4 1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9B0000"/>
                </a:solidFill>
                <a:latin typeface="Consolas"/>
                <a:ea typeface="Consolas"/>
                <a:cs typeface="Consolas"/>
              </a:rPr>
              <a:t>x=4：round=0，rest=30≥4，1×4=4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D = 1，每人最多 1 </a:t>
            </a:r>
            <a:r>
              <a:rPr sz="12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次；x</a:t>
            </a:r>
            <a:r>
              <a:rPr sz="12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= 4 </a:t>
            </a:r>
            <a:r>
              <a:rPr sz="12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时阿迪拿</a:t>
            </a:r>
            <a:r>
              <a:rPr sz="12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1 </a:t>
            </a:r>
            <a:r>
              <a:rPr sz="1250" b="0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次，共</a:t>
            </a:r>
            <a:r>
              <a:rPr sz="1250" b="0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4 颗。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6559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1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100 6 10 3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6559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0000"/>
                </a:solidFill>
                <a:latin typeface="Consolas"/>
                <a:ea typeface="Consolas"/>
                <a:cs typeface="Consolas"/>
              </a:rPr>
              <a:t>x=7：round=2，rest=16≥7，3×7=21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x = 7 时，完整 2 轮后再多拿 1 次，共 21 颗，为最大值。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4535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以上输出均由对应 .cpp 程序实际运行得到。代码文件：</a:t>
            </a:r>
            <a:r>
              <a:rPr sz="12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Candy.cpp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64175"/>
            <a:ext cx="3154680" cy="566225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164175"/>
            <a:ext cx="3154680" cy="566225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164175"/>
            <a:ext cx="3154680" cy="566225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4199-89B3-E1CA-EFD6-86ED7254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33D02C-8933-2DAF-32B6-FF28F6724803}"/>
              </a:ext>
            </a:extLst>
          </p:cNvPr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5-</a:t>
            </a:r>
            <a:r>
              <a:rPr lang="zh-CN" altLang="en-US"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代码优化</a:t>
            </a:r>
            <a:endParaRPr sz="30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B5C93-AED0-F7BE-0D1A-C350970A98FB}"/>
              </a:ext>
            </a:extLst>
          </p:cNvPr>
          <p:cNvSpPr txBox="1"/>
          <p:nvPr/>
        </p:nvSpPr>
        <p:spPr>
          <a:xfrm>
            <a:off x="777240" y="1177155"/>
            <a:ext cx="10744200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前面中我们提到，可以通过从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枚举到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的方式找到正确答案。但当数据极大时（如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M&gt;10^9)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，往往会因为超时而判错。事实上，我们可以通过整块分除的方式优化算法，在大数据情况下显著提高运算速度。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下面的例子将有助于理解什么是整块分除：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已知，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为总糖果数，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为人数，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为每轮最大分糖果数，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为最大轮数，假设每轮分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颗糖果，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为确定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情况下最大分糖果轮数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n=100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k=2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时，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x=34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R=100/(2*34)=1;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x=35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R=100/(2*35)=1;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x=36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R=100/(2*36)=1;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x=37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R=100/(2*37)=1;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不难发现，当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较大时，存在一个区间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[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l,r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]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，当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在区间内时，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相同。题目求阿迪分到的最大糖果数，由于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ans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=round*x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，要想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ans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尽可能大，在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round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确定的情况下，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必须尽可能大。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于是我们得到一个思路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: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跳过尽可能多的回合数相同的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，保留某个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下的最大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948DF-0E50-C3F5-2403-7CB347A32DAD}"/>
              </a:ext>
            </a:extLst>
          </p:cNvPr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FA8ED-3189-9496-AB6E-B62B07D27E85}"/>
              </a:ext>
            </a:extLst>
          </p:cNvPr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 </a:t>
            </a:r>
            <a:r>
              <a:rPr sz="20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Candy.cpp</a:t>
            </a:r>
          </a:p>
        </p:txBody>
      </p:sp>
    </p:spTree>
    <p:extLst>
      <p:ext uri="{BB962C8B-B14F-4D97-AF65-F5344CB8AC3E}">
        <p14:creationId xmlns:p14="http://schemas.microsoft.com/office/powerpoint/2010/main" val="196087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8B789-2CAB-661C-48C4-89B5366A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0ADB80-831E-FE14-66EA-CC40680D546F}"/>
              </a:ext>
            </a:extLst>
          </p:cNvPr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5-</a:t>
            </a:r>
            <a:r>
              <a:rPr lang="zh-CN" altLang="en-US"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代码优化</a:t>
            </a:r>
            <a:endParaRPr sz="30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DB8F9-F2DB-0ABE-A5FD-F448B45D49E5}"/>
              </a:ext>
            </a:extLst>
          </p:cNvPr>
          <p:cNvSpPr txBox="1"/>
          <p:nvPr/>
        </p:nvSpPr>
        <p:spPr>
          <a:xfrm>
            <a:off x="777240" y="1177155"/>
            <a:ext cx="10744200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long 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long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l=1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 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ans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=0;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While(l&lt;=M)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{</a:t>
            </a:r>
            <a:b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</a:b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long 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long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R=n/(l*k);//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不考虑剩余糖，每轮分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颗糖，需要的轮数为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if(R&gt;D) break;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long 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long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r=n/(R*k);//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求出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相同时，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[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l,r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]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区间的右边界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,r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本身为使得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相同的所有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中的最大值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r=min(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r,M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) //r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不能超过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ans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=max(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ans,getcandy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(r));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l=r+1;//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，跳到下一个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对应的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区间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上述代码基本实现了整块分除的功能。但是，如果考虑到分完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轮后，剩余糖果大于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且小于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x*k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的情况，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还需补充以下代码：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531B7A-1826-A4D1-FDA4-7327F625598A}"/>
              </a:ext>
            </a:extLst>
          </p:cNvPr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290D0-5E41-16DF-3EEF-331F945599A4}"/>
              </a:ext>
            </a:extLst>
          </p:cNvPr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 </a:t>
            </a:r>
            <a:r>
              <a:rPr sz="20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Candy.cpp</a:t>
            </a:r>
          </a:p>
        </p:txBody>
      </p:sp>
    </p:spTree>
    <p:extLst>
      <p:ext uri="{BB962C8B-B14F-4D97-AF65-F5344CB8AC3E}">
        <p14:creationId xmlns:p14="http://schemas.microsoft.com/office/powerpoint/2010/main" val="14700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DEA9-FF8C-A708-3A43-90A1D89D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0DA7DB-61BC-ECE5-A5F2-9D797112A3C8}"/>
              </a:ext>
            </a:extLst>
          </p:cNvPr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5-</a:t>
            </a:r>
            <a:r>
              <a:rPr lang="zh-CN" altLang="en-US"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代码优化</a:t>
            </a:r>
            <a:endParaRPr sz="30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CFFF9-6F82-BCE1-F5A4-11D9E4555419}"/>
              </a:ext>
            </a:extLst>
          </p:cNvPr>
          <p:cNvSpPr txBox="1"/>
          <p:nvPr/>
        </p:nvSpPr>
        <p:spPr>
          <a:xfrm>
            <a:off x="777240" y="1177155"/>
            <a:ext cx="10744200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if(R&lt;D) //R+1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仍小于等于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的情况下才进行判断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{</a:t>
            </a:r>
            <a:b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</a:b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 long 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long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x2=n/(k*R+1);//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能够获得额外一轮奖励的每轮分发糖果数为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 if(x2&gt;=l&amp;&amp;x2&lt;=r) //x2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在同一个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对应的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区间内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 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   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ans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=max(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ans,getcnady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(x2));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 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善于思考的同学也许发现了，优化的思路实际上是将原来的对分发糖果数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枚举，转为对分糖果的轮数枚举。这也就是整块分除在本题的核心体现。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8584C-E3CF-9F61-E3A0-62982562822B}"/>
              </a:ext>
            </a:extLst>
          </p:cNvPr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1356A-E5B9-65CC-529A-9056059A971F}"/>
              </a:ext>
            </a:extLst>
          </p:cNvPr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 </a:t>
            </a:r>
            <a:r>
              <a:rPr sz="20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Candy.cpp</a:t>
            </a:r>
          </a:p>
        </p:txBody>
      </p:sp>
    </p:spTree>
    <p:extLst>
      <p:ext uri="{BB962C8B-B14F-4D97-AF65-F5344CB8AC3E}">
        <p14:creationId xmlns:p14="http://schemas.microsoft.com/office/powerpoint/2010/main" val="358420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9326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6、OJ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补充题目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第四题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质数判定</a:t>
            </a:r>
            <a:endParaRPr sz="24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5239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16152"/>
            <a:ext cx="10625328" cy="4892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【题目描述】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质数（也叫素数）是指只能被 1 和它自己整除的、大于 1 的整数。给你一个整数 n，请判断它是不是质数。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【输入格式】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一行，一个整数 n。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【数据范围】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 ≤ n ≤ 100000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【输出格式】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一行。是质数输出 YES，否则输出 NO。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【样例 1】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输入：97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输出：YES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r>
              <a:rPr sz="18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【样例 2】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输入：100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输出：NO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6-思路分析及原理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5074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 dirty="0" err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这是一道考察循环与质数判定的基础题。我们先回顾质数的定义</a:t>
            </a: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质数是大于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1，且只能被 1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和它本身整除的整数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 dirty="0" err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接着将解题思路拆解</a:t>
            </a: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枚举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= 2..n/2。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若 n %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== 0，说明 n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有因子，不是质数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若循环结束都没有找到因子，说明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是质数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特判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 &lt; 2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NO（本题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 ≥ 2，但写代码时更严谨）。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 OJ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要求输出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YES 或 NO。</a:t>
            </a:r>
          </a:p>
          <a:p>
            <a:pPr>
              <a:lnSpc>
                <a:spcPct val="105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 dirty="0" err="1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特别注意</a:t>
            </a: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输出必须是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YES/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NO，不能输出中文提示；本题枚举到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n/2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即可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504688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4754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6-代码逐行讲解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744200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读入整数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特判：若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 &lt; 2，直接输出 NO。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= 2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开始枚举到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n/2。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若 n %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== 0，说明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是 n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的因子，输出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NO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并结束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若循环结束都没有找到因子，输出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YES。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6.</a:t>
            </a:r>
            <a:r>
              <a:rPr sz="1800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时间复杂度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O(n/2)，</a:t>
            </a:r>
            <a:r>
              <a:rPr sz="18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空间</a:t>
            </a:r>
            <a:r>
              <a:rPr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O(1)。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 </a:t>
            </a:r>
            <a:r>
              <a:rPr sz="20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PrimeNumber.cpp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100584"/>
            <a:ext cx="512064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6-用例及运行结果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 到 48 都不能整除 97，97 是质数。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655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i = 2 时 100 % 2 == 0，立即判断不是质数。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1115568"/>
            <a:ext cx="3611880" cy="5010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01000" y="1115568"/>
            <a:ext cx="361188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65592" y="1225295"/>
            <a:ext cx="328269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用例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1600200"/>
            <a:ext cx="868680" cy="320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170078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1947672"/>
            <a:ext cx="3282696" cy="676656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1" y="2020824"/>
            <a:ext cx="309981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2734056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8040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2980944"/>
            <a:ext cx="3282696" cy="932688"/>
          </a:xfrm>
          <a:prstGeom prst="rect">
            <a:avLst/>
          </a:prstGeom>
          <a:solidFill>
            <a:srgbClr val="181818"/>
          </a:solidFill>
          <a:ln w="9525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65592" y="4032504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4279392"/>
            <a:ext cx="3282696" cy="1709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最小质数；2/2 = 1，循环一次也不执行，直接输出 YES。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4535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以上输出均由对应 .cpp 程序实际运行得到。代码文件：</a:t>
            </a:r>
            <a:r>
              <a:rPr sz="12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PrimeNumber.cpp</a:t>
            </a:r>
          </a:p>
        </p:txBody>
      </p:sp>
      <p:pic>
        <p:nvPicPr>
          <p:cNvPr id="40" name="Picture 39" descr="Q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89763"/>
            <a:ext cx="3154680" cy="515050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1" name="Picture 40" descr="Q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189387"/>
            <a:ext cx="3154680" cy="515802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  <p:pic>
        <p:nvPicPr>
          <p:cNvPr id="42" name="Picture 41" descr="Q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189763"/>
            <a:ext cx="3154680" cy="515050"/>
          </a:xfrm>
          <a:prstGeom prst="rect">
            <a:avLst/>
          </a:prstGeom>
          <a:ln w="9525">
            <a:solidFill>
              <a:srgbClr val="505050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B20E-D279-89E5-8DBB-D4786AB3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49201E-318D-7432-6CE2-62850B6455F3}"/>
              </a:ext>
            </a:extLst>
          </p:cNvPr>
          <p:cNvSpPr/>
          <p:nvPr/>
        </p:nvSpPr>
        <p:spPr>
          <a:xfrm>
            <a:off x="118872" y="100584"/>
            <a:ext cx="4754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6-</a:t>
            </a:r>
            <a:r>
              <a:rPr lang="zh-CN" altLang="en-US"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代码优化</a:t>
            </a:r>
            <a:endParaRPr sz="30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7FF31-DBBD-27D6-7B78-7B63C58E5ED8}"/>
              </a:ext>
            </a:extLst>
          </p:cNvPr>
          <p:cNvSpPr txBox="1"/>
          <p:nvPr/>
        </p:nvSpPr>
        <p:spPr>
          <a:xfrm>
            <a:off x="777240" y="1170432"/>
            <a:ext cx="10744200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前面提到，我们可以通过一个循环结构判断某个数是否为质数：</a:t>
            </a:r>
            <a:endParaRPr lang="en-US" altLang="zh-CN" sz="1800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for(int </a:t>
            </a:r>
            <a:r>
              <a:rPr lang="en-US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=2;i&lt;n/2;i++)</a:t>
            </a:r>
            <a:br>
              <a:rPr 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</a:br>
            <a:r>
              <a:rPr 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if(</a:t>
            </a:r>
            <a:r>
              <a:rPr lang="en-US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n%i</a:t>
            </a:r>
            <a:r>
              <a:rPr 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==0) return false;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}</a:t>
            </a:r>
            <a:br>
              <a:rPr 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</a:br>
            <a:r>
              <a:rPr 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return true;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此时时间复杂度为</a:t>
            </a:r>
            <a:r>
              <a:rPr lang="en-US" altLang="zh-CN" sz="18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(n/2)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，相比“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&lt;n”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的判断逻辑有明显优化。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那么，是否还存在更好的算法呢？显然存在</a:t>
            </a:r>
            <a:endParaRPr lang="en-US" altLang="zh-CN" b="1" dirty="0">
              <a:solidFill>
                <a:srgbClr val="FFD966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zh-CN" altLang="en-US" b="1" dirty="0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一</a:t>
            </a:r>
            <a:r>
              <a:rPr lang="en-US" altLang="zh-CN" b="1" dirty="0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.</a:t>
            </a:r>
            <a:r>
              <a:rPr lang="zh-CN" altLang="en-US" b="1" dirty="0">
                <a:solidFill>
                  <a:srgbClr val="FFC000"/>
                </a:solidFill>
                <a:latin typeface="微软雅黑"/>
                <a:ea typeface="微软雅黑"/>
                <a:cs typeface="微软雅黑"/>
              </a:rPr>
              <a:t>对于结束条件的优化</a:t>
            </a:r>
            <a:endParaRPr lang="en-US" altLang="zh-CN" b="1" dirty="0">
              <a:solidFill>
                <a:srgbClr val="FFC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注意观察，我们发现，当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&gt;n/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时，即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*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&gt;n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时，若大于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的数中有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的因子，则在小于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的数中必然有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的因子，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所以，考虑大于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的数是多此一举的。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于是我们得到优化后的代码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:for(int 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=2;i*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&lt;=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n;i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++)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zh-CN" altLang="en-US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还有更好的算法吗</a:t>
            </a:r>
            <a:r>
              <a:rPr lang="en-US" altLang="zh-CN" b="1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?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81AB1F-45E0-0953-73A8-8B97DBCC9F4C}"/>
              </a:ext>
            </a:extLst>
          </p:cNvPr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CF263-6285-1EC5-0B67-410C74177672}"/>
              </a:ext>
            </a:extLst>
          </p:cNvPr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</a:t>
            </a:r>
            <a:r>
              <a:rPr sz="200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PrimeNumber.cpp</a:t>
            </a:r>
          </a:p>
        </p:txBody>
      </p:sp>
    </p:spTree>
    <p:extLst>
      <p:ext uri="{BB962C8B-B14F-4D97-AF65-F5344CB8AC3E}">
        <p14:creationId xmlns:p14="http://schemas.microsoft.com/office/powerpoint/2010/main" val="399347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133FC-F20E-B71C-EBA7-F55D813F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7D3497-9D8B-37D2-A5DE-D2070EF35606}"/>
              </a:ext>
            </a:extLst>
          </p:cNvPr>
          <p:cNvSpPr/>
          <p:nvPr/>
        </p:nvSpPr>
        <p:spPr>
          <a:xfrm>
            <a:off x="118872" y="100584"/>
            <a:ext cx="4754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6-</a:t>
            </a:r>
            <a:r>
              <a:rPr lang="zh-CN" altLang="en-US"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代码优化</a:t>
            </a:r>
            <a:endParaRPr sz="30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C4990F-0A38-6063-F833-383F9AD18ED0}"/>
                  </a:ext>
                </a:extLst>
              </p:cNvPr>
              <p:cNvSpPr txBox="1"/>
              <p:nvPr/>
            </p:nvSpPr>
            <p:spPr>
              <a:xfrm>
                <a:off x="777240" y="1170432"/>
                <a:ext cx="10744200" cy="37947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5000"/>
                  </a:lnSpc>
                  <a:spcAft>
                    <a:spcPts val="400"/>
                  </a:spcAft>
                </a:pPr>
                <a:r>
                  <a:rPr lang="zh-CN" altLang="en-US" b="1" dirty="0">
                    <a:solidFill>
                      <a:srgbClr val="FFD966"/>
                    </a:solidFill>
                    <a:latin typeface="微软雅黑"/>
                    <a:ea typeface="微软雅黑"/>
                    <a:cs typeface="微软雅黑"/>
                  </a:rPr>
                  <a:t>二</a:t>
                </a:r>
                <a:r>
                  <a:rPr lang="en-US" altLang="zh-CN" b="1" dirty="0">
                    <a:solidFill>
                      <a:srgbClr val="FFD966"/>
                    </a:solidFill>
                    <a:latin typeface="微软雅黑"/>
                    <a:ea typeface="微软雅黑"/>
                    <a:cs typeface="微软雅黑"/>
                  </a:rPr>
                  <a:t>.</a:t>
                </a:r>
                <a:r>
                  <a:rPr lang="zh-CN" altLang="en-US" b="1" dirty="0">
                    <a:solidFill>
                      <a:srgbClr val="FFD966"/>
                    </a:solidFill>
                    <a:latin typeface="微软雅黑"/>
                    <a:ea typeface="微软雅黑"/>
                    <a:cs typeface="微软雅黑"/>
                  </a:rPr>
                  <a:t>对状态更新的优化</a:t>
                </a:r>
                <a:endParaRPr lang="en-US" altLang="zh-CN" b="1" dirty="0">
                  <a:solidFill>
                    <a:srgbClr val="FFD966"/>
                  </a:solidFill>
                  <a:latin typeface="微软雅黑"/>
                  <a:ea typeface="微软雅黑"/>
                  <a:cs typeface="微软雅黑"/>
                </a:endParaRPr>
              </a:p>
              <a:p>
                <a:pPr>
                  <a:lnSpc>
                    <a:spcPct val="105000"/>
                  </a:lnSpc>
                  <a:spcAft>
                    <a:spcPts val="400"/>
                  </a:spcAft>
                </a:pPr>
                <a:r>
                  <a:rPr lang="zh-CN" altLang="en-US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不难发现，当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n</a:t>
                </a:r>
                <a:r>
                  <a:rPr lang="zh-CN" altLang="en-US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为偶数时，其必然为合数。故我们可以跳过所有偶数，得到如下代码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:</a:t>
                </a:r>
              </a:p>
              <a:p>
                <a:pPr>
                  <a:lnSpc>
                    <a:spcPct val="105000"/>
                  </a:lnSpc>
                  <a:spcAft>
                    <a:spcPts val="400"/>
                  </a:spcAft>
                </a:pP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if(n&lt;2) return false;</a:t>
                </a:r>
              </a:p>
              <a:p>
                <a:pPr>
                  <a:lnSpc>
                    <a:spcPct val="105000"/>
                  </a:lnSpc>
                  <a:spcAft>
                    <a:spcPts val="400"/>
                  </a:spcAft>
                </a:pP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if(n==2) </a:t>
                </a:r>
                <a:r>
                  <a:rPr lang="en-US" altLang="zh-CN" dirty="0" err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retrun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 true;</a:t>
                </a:r>
              </a:p>
              <a:p>
                <a:pPr>
                  <a:lnSpc>
                    <a:spcPct val="105000"/>
                  </a:lnSpc>
                  <a:spcAft>
                    <a:spcPts val="400"/>
                  </a:spcAft>
                </a:pP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for(int </a:t>
                </a:r>
                <a:r>
                  <a:rPr lang="en-US" altLang="zh-CN" dirty="0" err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i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=3;i*</a:t>
                </a:r>
                <a:r>
                  <a:rPr lang="en-US" altLang="zh-CN" dirty="0" err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i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&lt;=</a:t>
                </a:r>
                <a:r>
                  <a:rPr lang="en-US" altLang="zh-CN" dirty="0" err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n;i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+=2)</a:t>
                </a:r>
                <a:b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</a:b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{</a:t>
                </a:r>
                <a:b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</a:b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  if(</a:t>
                </a:r>
                <a:r>
                  <a:rPr lang="en-US" altLang="zh-CN" dirty="0" err="1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n%i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==0) return false</a:t>
                </a:r>
              </a:p>
              <a:p>
                <a:pPr>
                  <a:lnSpc>
                    <a:spcPct val="105000"/>
                  </a:lnSpc>
                  <a:spcAft>
                    <a:spcPts val="400"/>
                  </a:spcAft>
                </a:pP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}</a:t>
                </a:r>
              </a:p>
              <a:p>
                <a:pPr>
                  <a:lnSpc>
                    <a:spcPct val="105000"/>
                  </a:lnSpc>
                  <a:spcAft>
                    <a:spcPts val="400"/>
                  </a:spcAft>
                </a:pP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return true;</a:t>
                </a:r>
              </a:p>
              <a:p>
                <a:pPr>
                  <a:lnSpc>
                    <a:spcPct val="100000"/>
                  </a:lnSpc>
                  <a:spcAft>
                    <a:spcPts val="400"/>
                  </a:spcAft>
                </a:pPr>
                <a:r>
                  <a:rPr lang="zh-CN" altLang="en-US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于是，我们得到在最坏情况下时间复杂度为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O(</a:t>
                </a:r>
                <a:r>
                  <a:rPr lang="zh-CN" altLang="en-US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根号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n/2</a:t>
                </a:r>
                <a:r>
                  <a:rPr lang="zh-CN" altLang="en-US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）的算法。（严格来说还是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O(</a:t>
                </a:r>
                <a:r>
                  <a:rPr lang="zh-CN" altLang="en-US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根号</a:t>
                </a:r>
                <a: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n)</a:t>
                </a:r>
                <a:r>
                  <a:rPr lang="zh-CN" altLang="en-US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，此处为展示优化效果才使用不严谨的表述）</a:t>
                </a:r>
                <a:br>
                  <a:rPr lang="en-US" altLang="zh-CN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</a:br>
                <a:r>
                  <a:rPr lang="zh-CN" altLang="en-US" dirty="0">
                    <a:solidFill>
                      <a:srgbClr val="FFFFFF"/>
                    </a:solidFill>
                    <a:latin typeface="微软雅黑"/>
                    <a:ea typeface="微软雅黑"/>
                    <a:cs typeface="微软雅黑"/>
                  </a:rPr>
                  <a:t>事实上，还有其他性能更好的算法，如</a:t>
                </a:r>
                <a:r>
                  <a:rPr lang="zh-CN" altLang="zh-CN" b="1" dirty="0"/>
                  <a:t>6倍原则</a:t>
                </a:r>
                <a:r>
                  <a:rPr lang="zh-CN" altLang="en-US" b="1" dirty="0"/>
                  <a:t>法</a:t>
                </a:r>
                <a:r>
                  <a:rPr lang="zh-CN" altLang="zh-CN" b="1" dirty="0"/>
                  <a:t>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b="1" dirty="0"/>
                  <a:t>）</a:t>
                </a:r>
                <a:r>
                  <a:rPr lang="zh-CN" altLang="en-US" b="1" dirty="0"/>
                  <a:t>（原理为除了</a:t>
                </a:r>
                <a:r>
                  <a:rPr lang="en-US" altLang="zh-CN" b="1" dirty="0"/>
                  <a:t>2</a:t>
                </a:r>
                <a:r>
                  <a:rPr lang="zh-CN" altLang="en-US" b="1" dirty="0"/>
                  <a:t>和</a:t>
                </a:r>
                <a:r>
                  <a:rPr lang="en-US" altLang="zh-CN" b="1" dirty="0"/>
                  <a:t>3</a:t>
                </a:r>
                <a:r>
                  <a:rPr lang="zh-CN" altLang="en-US" b="1" dirty="0"/>
                  <a:t>，所有质数都分布在</a:t>
                </a:r>
                <a:r>
                  <a:rPr lang="en-US" altLang="zh-CN" b="1" dirty="0"/>
                  <a:t>6</a:t>
                </a:r>
                <a:r>
                  <a:rPr lang="zh-CN" altLang="en-US" b="1" dirty="0"/>
                  <a:t>的倍数的两侧，即</a:t>
                </a:r>
                <a:r>
                  <a:rPr lang="en-US" altLang="zh-CN" b="1" dirty="0"/>
                  <a:t>6k±1)</a:t>
                </a:r>
                <a:r>
                  <a:rPr lang="zh-CN" altLang="en-US" b="1" dirty="0"/>
                  <a:t>。此处不展示。</a:t>
                </a:r>
                <a:endParaRPr lang="zh-CN" altLang="zh-CN" b="1" dirty="0"/>
              </a:p>
              <a:p>
                <a:pPr>
                  <a:lnSpc>
                    <a:spcPct val="105000"/>
                  </a:lnSpc>
                  <a:spcAft>
                    <a:spcPts val="400"/>
                  </a:spcAft>
                </a:pPr>
                <a:endParaRPr lang="en-US" altLang="zh-CN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C4990F-0A38-6063-F833-383F9AD18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170432"/>
                <a:ext cx="10744200" cy="3794760"/>
              </a:xfrm>
              <a:prstGeom prst="rect">
                <a:avLst/>
              </a:prstGeom>
              <a:blipFill>
                <a:blip r:embed="rId2"/>
                <a:stretch>
                  <a:fillRect l="-1362" t="-2247" r="-1249" b="-15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4A1F2B5-038C-3A5C-3F0E-78F5B13DF0DA}"/>
              </a:ext>
            </a:extLst>
          </p:cNvPr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3D571-E108-05DF-4C6D-46E4969088A1}"/>
              </a:ext>
            </a:extLst>
          </p:cNvPr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</a:t>
            </a:r>
            <a:r>
              <a:rPr sz="200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PrimeNumber.cpp</a:t>
            </a:r>
          </a:p>
        </p:txBody>
      </p:sp>
    </p:spTree>
    <p:extLst>
      <p:ext uri="{BB962C8B-B14F-4D97-AF65-F5344CB8AC3E}">
        <p14:creationId xmlns:p14="http://schemas.microsoft.com/office/powerpoint/2010/main" val="162248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96BA-2E23-E483-9903-98849C171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F3EDB7-B6D7-3A3B-306D-58481B1B306F}"/>
              </a:ext>
            </a:extLst>
          </p:cNvPr>
          <p:cNvSpPr/>
          <p:nvPr/>
        </p:nvSpPr>
        <p:spPr>
          <a:xfrm>
            <a:off x="118872" y="100584"/>
            <a:ext cx="9326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lang="en-US"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zh-CN" altLang="en-US"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洛谷</a:t>
            </a:r>
            <a:r>
              <a:rPr lang="en-US" altLang="zh-CN"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P1605</a:t>
            </a:r>
            <a:r>
              <a:rPr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24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迷宫</a:t>
            </a:r>
            <a:endParaRPr sz="24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368DF2-D556-B7B2-8A0C-A236856F15FA}"/>
              </a:ext>
            </a:extLst>
          </p:cNvPr>
          <p:cNvSpPr/>
          <p:nvPr/>
        </p:nvSpPr>
        <p:spPr>
          <a:xfrm>
            <a:off x="502920" y="1033271"/>
            <a:ext cx="11183112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FD4FF-A91A-C001-8197-5904491611F4}"/>
              </a:ext>
            </a:extLst>
          </p:cNvPr>
          <p:cNvSpPr txBox="1"/>
          <p:nvPr/>
        </p:nvSpPr>
        <p:spPr>
          <a:xfrm>
            <a:off x="777240" y="1216152"/>
            <a:ext cx="10625328" cy="4892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endParaRPr sz="1750" b="0" i="0" dirty="0">
              <a:solidFill>
                <a:srgbClr val="000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BA70CD-37B7-0569-7017-201A567E1F53}"/>
              </a:ext>
            </a:extLst>
          </p:cNvPr>
          <p:cNvSpPr txBox="1"/>
          <p:nvPr/>
        </p:nvSpPr>
        <p:spPr>
          <a:xfrm>
            <a:off x="415066" y="1065275"/>
            <a:ext cx="1099969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/>
              <a:t>题目描述</a:t>
            </a:r>
          </a:p>
          <a:p>
            <a:r>
              <a:rPr lang="zh-CN" altLang="zh-CN" sz="2000" dirty="0"/>
              <a:t>给定一个 </a:t>
            </a:r>
            <a:r>
              <a:rPr lang="zh-CN" altLang="zh-CN" sz="2000" i="1" dirty="0"/>
              <a:t>N</a:t>
            </a:r>
            <a:r>
              <a:rPr lang="zh-CN" altLang="zh-CN" sz="2000" dirty="0"/>
              <a:t>×</a:t>
            </a:r>
            <a:r>
              <a:rPr lang="zh-CN" altLang="zh-CN" sz="2000" i="1" dirty="0"/>
              <a:t>M</a:t>
            </a:r>
            <a:r>
              <a:rPr lang="zh-CN" altLang="zh-CN" sz="2000" dirty="0"/>
              <a:t> 方格的迷宫，迷宫里有 </a:t>
            </a:r>
            <a:r>
              <a:rPr lang="zh-CN" altLang="zh-CN" sz="2000" i="1" dirty="0"/>
              <a:t>T</a:t>
            </a:r>
            <a:r>
              <a:rPr lang="zh-CN" altLang="zh-CN" sz="2000" dirty="0"/>
              <a:t> 处障碍，障碍处不可通过。</a:t>
            </a:r>
          </a:p>
          <a:p>
            <a:r>
              <a:rPr lang="zh-CN" altLang="zh-CN" sz="2000" dirty="0"/>
              <a:t>在迷宫中移动有上下左右四种方式，每次只能移动一个方格。数据保证起点上没有障碍。</a:t>
            </a:r>
          </a:p>
          <a:p>
            <a:r>
              <a:rPr lang="zh-CN" altLang="zh-CN" sz="2000" dirty="0"/>
              <a:t>给定起点坐标和终点坐标，每个方格最多经过一次，问有多少种从起点坐标到终点坐标的方案。</a:t>
            </a:r>
          </a:p>
          <a:p>
            <a:r>
              <a:rPr lang="zh-CN" altLang="zh-CN" sz="2000" b="1" dirty="0"/>
              <a:t>输入格式</a:t>
            </a:r>
          </a:p>
          <a:p>
            <a:r>
              <a:rPr lang="zh-CN" altLang="zh-CN" sz="2000" dirty="0"/>
              <a:t>第一行为三个正整数 </a:t>
            </a:r>
            <a:r>
              <a:rPr lang="zh-CN" altLang="zh-CN" sz="2000" i="1" dirty="0"/>
              <a:t>N</a:t>
            </a:r>
            <a:r>
              <a:rPr lang="zh-CN" altLang="zh-CN" sz="2000" dirty="0"/>
              <a:t>,</a:t>
            </a:r>
            <a:r>
              <a:rPr lang="zh-CN" altLang="zh-CN" sz="2000" i="1" dirty="0"/>
              <a:t>M</a:t>
            </a:r>
            <a:r>
              <a:rPr lang="zh-CN" altLang="zh-CN" sz="2000" dirty="0"/>
              <a:t>,</a:t>
            </a:r>
            <a:r>
              <a:rPr lang="zh-CN" altLang="zh-CN" sz="2000" i="1" dirty="0"/>
              <a:t>T</a:t>
            </a:r>
            <a:r>
              <a:rPr lang="zh-CN" altLang="zh-CN" sz="2000" dirty="0"/>
              <a:t>，分别表示迷宫的长宽和障碍总数。</a:t>
            </a:r>
          </a:p>
          <a:p>
            <a:r>
              <a:rPr lang="zh-CN" altLang="zh-CN" sz="2000" dirty="0"/>
              <a:t>第二行为四个正整数 </a:t>
            </a:r>
            <a:r>
              <a:rPr lang="zh-CN" altLang="zh-CN" sz="2000" i="1" dirty="0"/>
              <a:t>SX</a:t>
            </a:r>
            <a:r>
              <a:rPr lang="zh-CN" altLang="zh-CN" sz="2000" dirty="0"/>
              <a:t>,</a:t>
            </a:r>
            <a:r>
              <a:rPr lang="zh-CN" altLang="zh-CN" sz="2000" i="1" dirty="0"/>
              <a:t>SY</a:t>
            </a:r>
            <a:r>
              <a:rPr lang="zh-CN" altLang="zh-CN" sz="2000" dirty="0"/>
              <a:t>,</a:t>
            </a:r>
            <a:r>
              <a:rPr lang="zh-CN" altLang="zh-CN" sz="2000" i="1" dirty="0"/>
              <a:t>FX</a:t>
            </a:r>
            <a:r>
              <a:rPr lang="zh-CN" altLang="zh-CN" sz="2000" dirty="0"/>
              <a:t>,</a:t>
            </a:r>
            <a:r>
              <a:rPr lang="zh-CN" altLang="zh-CN" sz="2000" i="1" dirty="0"/>
              <a:t>FY</a:t>
            </a:r>
            <a:r>
              <a:rPr lang="zh-CN" altLang="zh-CN" sz="2000" dirty="0"/>
              <a:t>。</a:t>
            </a:r>
            <a:r>
              <a:rPr lang="zh-CN" altLang="zh-CN" sz="2000" i="1" dirty="0"/>
              <a:t>SX</a:t>
            </a:r>
            <a:r>
              <a:rPr lang="zh-CN" altLang="zh-CN" sz="2000" dirty="0"/>
              <a:t>,</a:t>
            </a:r>
            <a:r>
              <a:rPr lang="zh-CN" altLang="zh-CN" sz="2000" i="1" dirty="0"/>
              <a:t>SY</a:t>
            </a:r>
            <a:r>
              <a:rPr lang="zh-CN" altLang="zh-CN" sz="2000" dirty="0"/>
              <a:t> 代表起点坐标，</a:t>
            </a:r>
            <a:r>
              <a:rPr lang="zh-CN" altLang="zh-CN" sz="2000" i="1" dirty="0"/>
              <a:t>FX</a:t>
            </a:r>
            <a:r>
              <a:rPr lang="zh-CN" altLang="zh-CN" sz="2000" dirty="0"/>
              <a:t>,</a:t>
            </a:r>
            <a:r>
              <a:rPr lang="zh-CN" altLang="zh-CN" sz="2000" i="1" dirty="0"/>
              <a:t>FY</a:t>
            </a:r>
            <a:r>
              <a:rPr lang="zh-CN" altLang="zh-CN" sz="2000" dirty="0"/>
              <a:t> 代表终点坐标。</a:t>
            </a:r>
          </a:p>
          <a:p>
            <a:r>
              <a:rPr lang="zh-CN" altLang="zh-CN" sz="2000" dirty="0"/>
              <a:t>接下来 </a:t>
            </a:r>
            <a:r>
              <a:rPr lang="zh-CN" altLang="zh-CN" sz="2000" i="1" dirty="0"/>
              <a:t>T</a:t>
            </a:r>
            <a:r>
              <a:rPr lang="zh-CN" altLang="zh-CN" sz="2000" dirty="0"/>
              <a:t> 行，每行两个正整数，表示障碍点的坐标。</a:t>
            </a:r>
          </a:p>
          <a:p>
            <a:r>
              <a:rPr lang="zh-CN" altLang="zh-CN" sz="2000" b="1" dirty="0"/>
              <a:t>输出格式</a:t>
            </a:r>
          </a:p>
          <a:p>
            <a:r>
              <a:rPr lang="zh-CN" altLang="zh-CN" sz="2000" dirty="0"/>
              <a:t>输出从起点坐标到终点坐标的方案总数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zh-CN" altLang="zh-CN" dirty="0"/>
          </a:p>
          <a:p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FE600AD-82D3-6FC7-47D2-BA15D20C9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232327"/>
            <a:ext cx="11727434" cy="262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7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2CF1-CEFB-FB14-57D2-5E514FF6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A6C8CF-716C-C283-B1FB-CEC6AA366CC6}"/>
              </a:ext>
            </a:extLst>
          </p:cNvPr>
          <p:cNvSpPr/>
          <p:nvPr/>
        </p:nvSpPr>
        <p:spPr>
          <a:xfrm>
            <a:off x="118872" y="100584"/>
            <a:ext cx="932688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lang="en-US" sz="2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7-</a:t>
            </a:r>
            <a:r>
              <a:rPr lang="zh-CN" altLang="en-US" sz="2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思路分析及原理</a:t>
            </a:r>
            <a:endParaRPr sz="2400" b="1" i="0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53435-4F9E-60BC-A455-39388FADEB05}"/>
              </a:ext>
            </a:extLst>
          </p:cNvPr>
          <p:cNvSpPr/>
          <p:nvPr/>
        </p:nvSpPr>
        <p:spPr>
          <a:xfrm>
            <a:off x="502920" y="1033271"/>
            <a:ext cx="11183112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A8A09-8651-DE52-103D-025E607042CF}"/>
              </a:ext>
            </a:extLst>
          </p:cNvPr>
          <p:cNvSpPr txBox="1"/>
          <p:nvPr/>
        </p:nvSpPr>
        <p:spPr>
          <a:xfrm>
            <a:off x="777240" y="1216152"/>
            <a:ext cx="10625328" cy="4892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150"/>
              </a:spcAft>
            </a:pPr>
            <a:endParaRPr sz="1750" b="0" i="0" dirty="0">
              <a:solidFill>
                <a:srgbClr val="000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B06587-56A6-93BE-3D10-1F2969D3D2D9}"/>
              </a:ext>
            </a:extLst>
          </p:cNvPr>
          <p:cNvSpPr txBox="1"/>
          <p:nvPr/>
        </p:nvSpPr>
        <p:spPr>
          <a:xfrm>
            <a:off x="517712" y="1351429"/>
            <a:ext cx="109996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 </a:t>
            </a:r>
            <a:r>
              <a:rPr lang="zh-CN" altLang="en-US" sz="2800" dirty="0"/>
              <a:t>通读题目不难发现这是一道</a:t>
            </a:r>
            <a:r>
              <a:rPr lang="en-US" altLang="zh-CN" sz="2800" dirty="0"/>
              <a:t>DFS</a:t>
            </a:r>
            <a:r>
              <a:rPr lang="zh-CN" altLang="en-US" sz="2800" dirty="0"/>
              <a:t>板子题。题目给了起点，终点以及障碍的坐标，我们可以从起点出发，分别向周围四个方向依次探索，如果遇到障碍，则</a:t>
            </a:r>
            <a:r>
              <a:rPr lang="en-US" altLang="zh-CN" sz="2800" dirty="0"/>
              <a:t>return</a:t>
            </a:r>
            <a:r>
              <a:rPr lang="zh-CN" altLang="en-US" sz="2800" dirty="0"/>
              <a:t>返回上一层递归（上一次探索状态）</a:t>
            </a:r>
            <a:r>
              <a:rPr lang="en-US" altLang="zh-CN" sz="2800" dirty="0"/>
              <a:t>,</a:t>
            </a:r>
            <a:r>
              <a:rPr lang="zh-CN" altLang="en-US" sz="2800" dirty="0"/>
              <a:t>如果遇到终点，则</a:t>
            </a:r>
            <a:r>
              <a:rPr lang="en-US" altLang="zh-CN" sz="2800" dirty="0" err="1"/>
              <a:t>ans</a:t>
            </a:r>
            <a:r>
              <a:rPr lang="en-US" altLang="zh-CN" sz="2800" dirty="0"/>
              <a:t>++</a:t>
            </a:r>
            <a:r>
              <a:rPr lang="zh-CN" altLang="en-US" sz="2800" dirty="0"/>
              <a:t>后</a:t>
            </a:r>
            <a:r>
              <a:rPr lang="en-US" altLang="zh-CN" sz="2800" dirty="0"/>
              <a:t>return</a:t>
            </a:r>
            <a:r>
              <a:rPr lang="zh-CN" altLang="en-US" sz="2800" dirty="0"/>
              <a:t>返回上一次状态。</a:t>
            </a:r>
            <a:endParaRPr lang="en-US" altLang="zh-CN" sz="2800" dirty="0"/>
          </a:p>
          <a:p>
            <a:r>
              <a:rPr lang="zh-CN" altLang="en-US" sz="2800" dirty="0"/>
              <a:t>此外，还需要注意以下几点：</a:t>
            </a:r>
            <a:endParaRPr lang="en-US" altLang="zh-CN" sz="2800" dirty="0"/>
          </a:p>
          <a:p>
            <a:r>
              <a:rPr lang="en-US" altLang="zh-CN" sz="2800" dirty="0"/>
              <a:t>1.</a:t>
            </a:r>
            <a:r>
              <a:rPr lang="zh-CN" altLang="en-US" sz="2800" dirty="0"/>
              <a:t>声明</a:t>
            </a:r>
            <a:r>
              <a:rPr lang="en-US" altLang="zh-CN" sz="2800" dirty="0" err="1"/>
              <a:t>is_visited</a:t>
            </a:r>
            <a:r>
              <a:rPr lang="zh-CN" altLang="en-US" sz="2800" dirty="0"/>
              <a:t>数组储存每一个坐标是否被访问的状态；</a:t>
            </a:r>
            <a:endParaRPr lang="en-US" altLang="zh-CN" sz="2800" dirty="0"/>
          </a:p>
          <a:p>
            <a:r>
              <a:rPr lang="en-US" altLang="zh-CN" sz="2800" dirty="0"/>
              <a:t>2.</a:t>
            </a:r>
            <a:r>
              <a:rPr lang="zh-CN" altLang="en-US" sz="2800" dirty="0"/>
              <a:t>用方向数组能够有效避免啰嗦的</a:t>
            </a:r>
            <a:r>
              <a:rPr lang="en-US" altLang="zh-CN" sz="2800" dirty="0"/>
              <a:t>if-else</a:t>
            </a:r>
            <a:r>
              <a:rPr lang="zh-CN" altLang="en-US" sz="2800" dirty="0"/>
              <a:t>判断；</a:t>
            </a:r>
            <a:endParaRPr lang="en-US" altLang="zh-CN" sz="2800" dirty="0"/>
          </a:p>
          <a:p>
            <a:r>
              <a:rPr lang="en-US" altLang="zh-CN" sz="2800" dirty="0"/>
              <a:t>3.</a:t>
            </a:r>
            <a:r>
              <a:rPr lang="zh-CN" altLang="en-US" sz="2800" dirty="0"/>
              <a:t>转换为</a:t>
            </a:r>
            <a:r>
              <a:rPr lang="en-US" altLang="zh-CN" sz="2800" dirty="0"/>
              <a:t>1-based(</a:t>
            </a:r>
            <a:r>
              <a:rPr lang="zh-CN" altLang="en-US" sz="2800" dirty="0"/>
              <a:t>一基索引）不容易错，要慎重考虑边界；</a:t>
            </a:r>
            <a:endParaRPr lang="en-US" altLang="zh-CN" sz="2800" dirty="0"/>
          </a:p>
          <a:p>
            <a:r>
              <a:rPr lang="en-US" altLang="zh-CN" sz="2800" dirty="0"/>
              <a:t>4.</a:t>
            </a:r>
            <a:r>
              <a:rPr lang="zh-CN" altLang="en-US" sz="2800" dirty="0"/>
              <a:t>每层递归都要写明退出递归的条件</a:t>
            </a:r>
            <a:r>
              <a:rPr lang="en-US" altLang="zh-CN" sz="2800" dirty="0"/>
              <a:t>(if---return).</a:t>
            </a:r>
            <a:endParaRPr lang="zh-CN" altLang="zh-CN" sz="2800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6249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DD0D-8315-9793-3E35-E8EDD289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F74089-E914-A3C3-FDD4-2FA98DBC7063}"/>
              </a:ext>
            </a:extLst>
          </p:cNvPr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lang="en-US" sz="30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-代码逐行讲解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E9568-D2EB-639B-4C35-8211EEBF6C56}"/>
              </a:ext>
            </a:extLst>
          </p:cNvPr>
          <p:cNvSpPr txBox="1"/>
          <p:nvPr/>
        </p:nvSpPr>
        <p:spPr>
          <a:xfrm>
            <a:off x="777240" y="1163708"/>
            <a:ext cx="5011719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br>
              <a:rPr lang="zh-CN" altLang="zh-CN" dirty="0"/>
            </a:br>
            <a:r>
              <a:rPr lang="zh-CN" altLang="en-US" dirty="0"/>
              <a:t>声明全局变量</a:t>
            </a:r>
            <a:r>
              <a:rPr lang="en-US" altLang="zh-CN" dirty="0" err="1"/>
              <a:t>ans</a:t>
            </a:r>
            <a:r>
              <a:rPr lang="zh-CN" altLang="en-US" dirty="0"/>
              <a:t>，</a:t>
            </a:r>
            <a:r>
              <a:rPr lang="en-US" altLang="zh-CN" dirty="0"/>
              <a:t>N,M,T</a:t>
            </a:r>
            <a:r>
              <a:rPr lang="zh-CN" altLang="en-US" dirty="0"/>
              <a:t>以及起点和终点坐标</a:t>
            </a:r>
            <a:r>
              <a:rPr lang="en-US" altLang="zh-CN" dirty="0"/>
              <a:t>SX,SY,FX,FY</a:t>
            </a:r>
            <a:r>
              <a:rPr lang="zh-CN" altLang="en-US" dirty="0"/>
              <a:t>，可以避免作为参数传给函数导致函数结构臃肿。</a:t>
            </a:r>
            <a:endParaRPr lang="en-US" altLang="zh-CN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声明一维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pair&lt;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int,int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&gt;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数组储存障碍物坐标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声明二维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bool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数组储存每个坐标的访问状态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声明函数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is_obstacle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，封装判断某个位置是否为障碍物功能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声明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dfs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函数，是深度优先搜索的实现工具。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C1246F-3B2E-C6D3-682C-D80F95A9A001}"/>
              </a:ext>
            </a:extLst>
          </p:cNvPr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0CDC4-3E7E-FADC-687D-A91A457AD756}"/>
              </a:ext>
            </a:extLst>
          </p:cNvPr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</a:t>
            </a:r>
            <a:r>
              <a:rPr sz="200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sz="20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P1605_lost_room.cpp</a:t>
            </a:r>
            <a:endParaRPr sz="2000" b="1" i="0" dirty="0">
              <a:solidFill>
                <a:srgbClr val="FFD96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A71574-990B-E3F2-8327-868851300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697" y="907944"/>
            <a:ext cx="6035867" cy="504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3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66B0-A1A8-6B8D-EB43-6CAA78A1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59B43-10F2-4D3F-DBB8-09F4E60D1CC2}"/>
              </a:ext>
            </a:extLst>
          </p:cNvPr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lang="en-US" sz="30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-代码逐行讲解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23293-390A-BE01-11D7-44DB9B60804F}"/>
              </a:ext>
            </a:extLst>
          </p:cNvPr>
          <p:cNvSpPr txBox="1"/>
          <p:nvPr/>
        </p:nvSpPr>
        <p:spPr>
          <a:xfrm>
            <a:off x="373828" y="1177154"/>
            <a:ext cx="5011719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障碍物判断函数：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通过遍历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obstacle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数组，比对传入的坐标与数组储存的坐标是否相同判断是否遇上障碍物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9A624-8537-9F6B-7898-5F91898DBF11}"/>
              </a:ext>
            </a:extLst>
          </p:cNvPr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44BE7-2CCA-204D-60AF-0EC520987B0A}"/>
              </a:ext>
            </a:extLst>
          </p:cNvPr>
          <p:cNvSpPr txBox="1"/>
          <p:nvPr/>
        </p:nvSpPr>
        <p:spPr>
          <a:xfrm>
            <a:off x="777240" y="5806440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</a:t>
            </a:r>
            <a:r>
              <a:rPr sz="200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sz="20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P1605_lost_room.cpp</a:t>
            </a:r>
            <a:endParaRPr sz="2000" b="1" i="0" dirty="0">
              <a:solidFill>
                <a:srgbClr val="FFD96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8D31FC-48C0-FBAD-A04F-1FFFDF37C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775" y="1013370"/>
            <a:ext cx="6831106" cy="559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1C52-1F03-BDF0-8EB6-4239D52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46E199-F32A-6A56-8DB8-3FA4F708EAB0}"/>
              </a:ext>
            </a:extLst>
          </p:cNvPr>
          <p:cNvSpPr/>
          <p:nvPr/>
        </p:nvSpPr>
        <p:spPr>
          <a:xfrm>
            <a:off x="118872" y="100584"/>
            <a:ext cx="4572000" cy="603504"/>
          </a:xfrm>
          <a:prstGeom prst="rect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45720" bIns="0" rtlCol="0" anchor="ctr">
            <a:noAutofit/>
          </a:bodyPr>
          <a:lstStyle/>
          <a:p>
            <a:pPr algn="l"/>
            <a:r>
              <a:rPr lang="en-US" sz="30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3000" b="1" i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-代码逐行讲解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CD8DC-3127-14F5-D505-668607EDBBEC}"/>
              </a:ext>
            </a:extLst>
          </p:cNvPr>
          <p:cNvSpPr txBox="1"/>
          <p:nvPr/>
        </p:nvSpPr>
        <p:spPr>
          <a:xfrm>
            <a:off x="252806" y="900684"/>
            <a:ext cx="4715884" cy="379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dfs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函数分析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方向数组的使用：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dx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dy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数组必须同时使用，用数学的语言即为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(1,0),(-1,0),(0,1),(0,-1)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四个位置，当遍历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dy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数组时，可以达到向上下左右四个方向移动的效果。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状态更新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在每次移动中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看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for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循环里面代码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)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表示某次移动后新的横坐标，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ny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表示某次移动后的纵坐标，当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ny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在迷宫地图里面时（不超出边界）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,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将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nx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ny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传入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dfs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函数，同时标记为已访问状态，否则跳过本次移动（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continue)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同时，如果进入已访问的格子，也会跳过移动。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回溯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这是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dfs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的关键。如果不进行回溯，搜索到终点后，退回上一次状态将会面临无路可走的局面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故需要调用</a:t>
            </a:r>
            <a:r>
              <a:rPr lang="en-US" altLang="zh-CN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dfs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之后将本格状态恢复为未访问。</a:t>
            </a:r>
            <a:endParaRPr lang="en-US" altLang="zh-CN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8DFD87-A775-9DCF-779F-DB175ACCB9B6}"/>
              </a:ext>
            </a:extLst>
          </p:cNvPr>
          <p:cNvSpPr/>
          <p:nvPr/>
        </p:nvSpPr>
        <p:spPr>
          <a:xfrm>
            <a:off x="777240" y="4892040"/>
            <a:ext cx="73152" cy="530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EFE28-8BF4-3F73-DF54-63CEDA449B35}"/>
              </a:ext>
            </a:extLst>
          </p:cNvPr>
          <p:cNvSpPr txBox="1"/>
          <p:nvPr/>
        </p:nvSpPr>
        <p:spPr>
          <a:xfrm>
            <a:off x="373829" y="6443024"/>
            <a:ext cx="107442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代码参见</a:t>
            </a:r>
            <a:r>
              <a:rPr sz="2000" b="1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sz="20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P1605_lost_room.cpp</a:t>
            </a:r>
            <a:endParaRPr sz="2000" b="1" i="0" dirty="0">
              <a:solidFill>
                <a:srgbClr val="FFD96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B80AF47-BDE9-E76A-8935-6F9DB6322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182" y="330260"/>
            <a:ext cx="6633793" cy="631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7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小班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分析与总结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2105" y="1526540"/>
            <a:ext cx="11527790" cy="2325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116000"/>
              </a:lnSpc>
              <a:spcBef>
                <a:spcPts val="300"/>
              </a:spcBef>
              <a:spcAft>
                <a:spcPts val="800"/>
              </a:spcAft>
              <a:buFont typeface="+mj-lt"/>
              <a:buNone/>
            </a:pPr>
            <a:r>
              <a:rPr sz="19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9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顺序结构是基础：读入</a:t>
            </a:r>
            <a:r>
              <a:rPr sz="19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9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计算</a:t>
            </a:r>
            <a:r>
              <a:rPr sz="19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9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按格式输出；setw、setfill、fixed、setprecision</a:t>
            </a:r>
            <a:r>
              <a:rPr sz="19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9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要分清作用</a:t>
            </a:r>
            <a:r>
              <a:rPr sz="19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zh-CN" altLang="en-US" sz="2000" dirty="0"/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800"/>
              </a:spcAft>
            </a:pPr>
            <a:r>
              <a:rPr sz="19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9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选择结构要把条件拆成独立判断，用计数器统计满足个数（如小芳找工作</a:t>
            </a:r>
            <a:r>
              <a:rPr sz="19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）。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800"/>
              </a:spcAft>
            </a:pPr>
            <a:r>
              <a:rPr sz="19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9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循环结构要抓住三要素：初值、条件、更新；边读边比较可以省去数组</a:t>
            </a:r>
            <a:r>
              <a:rPr sz="19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800"/>
              </a:spcAft>
            </a:pPr>
            <a:r>
              <a:rPr sz="1900" b="1" i="0" dirty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9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枚举前先算合法范围，能减少无效计算；数学类问题先想清楚判断条件</a:t>
            </a:r>
            <a:r>
              <a:rPr sz="1900" b="0" i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900" b="0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800"/>
              </a:spcAft>
            </a:pPr>
            <a:endParaRPr sz="1900" b="0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51663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谢谢！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c8b9a80-4fad-445a-93d5-f60682f0d89e"/>
  <p:tag name="COMMONDATA" val="eyJoZGlkIjoiNWYzY2Q4Y2QwMzY0MmIwYTMxOTc4NDk5ZjZlNmRmY2EifQ==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5098</Words>
  <Application>Microsoft Office PowerPoint</Application>
  <PresentationFormat>宽屏</PresentationFormat>
  <Paragraphs>450</Paragraphs>
  <Slides>36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等线</vt:lpstr>
      <vt:lpstr>等线 Light</vt:lpstr>
      <vt:lpstr>微软雅黑</vt:lpstr>
      <vt:lpstr>Arial</vt:lpstr>
      <vt:lpstr>Calibri</vt:lpstr>
      <vt:lpstr>Cambria Math</vt:lpstr>
      <vt:lpstr>Century Gothic</vt:lpstr>
      <vt:lpstr>Consolas</vt:lpstr>
      <vt:lpstr>Wingdings 3</vt:lpstr>
      <vt:lpstr>Office 主题​​</vt:lpstr>
      <vt:lpstr>离子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第一次小班课</dc:title>
  <dc:subject>程序设计第一次小班课</dc:subject>
  <dc:creator>梁钟仁</dc:creator>
  <cp:lastModifiedBy>钟仁 梁</cp:lastModifiedBy>
  <cp:revision>383</cp:revision>
  <dcterms:created xsi:type="dcterms:W3CDTF">2017-06-02T03:52:00Z</dcterms:created>
  <dcterms:modified xsi:type="dcterms:W3CDTF">2026-10-25T03:31:48Z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A7D17252D86C4255BDAAB2F86ED07937</vt:lpwstr>
  </property>
</Properties>
</file>